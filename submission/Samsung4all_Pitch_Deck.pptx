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ita FITT" userId="5c36314137c738fc" providerId="LiveId" clId="{8AC3937F-6660-4C47-B844-404AD942FDAA}"/>
    <pc:docChg chg="undo custSel modSld sldOrd">
      <pc:chgData name="Vanita FITT" userId="5c36314137c738fc" providerId="LiveId" clId="{8AC3937F-6660-4C47-B844-404AD942FDAA}" dt="2025-07-28T08:04:13.530" v="125" actId="20577"/>
      <pc:docMkLst>
        <pc:docMk/>
      </pc:docMkLst>
      <pc:sldChg chg="modSp mod">
        <pc:chgData name="Vanita FITT" userId="5c36314137c738fc" providerId="LiveId" clId="{8AC3937F-6660-4C47-B844-404AD942FDAA}" dt="2025-07-28T07:44:05.868" v="1" actId="20577"/>
        <pc:sldMkLst>
          <pc:docMk/>
          <pc:sldMk cId="4000108887" sldId="259"/>
        </pc:sldMkLst>
        <pc:spChg chg="mod">
          <ac:chgData name="Vanita FITT" userId="5c36314137c738fc" providerId="LiveId" clId="{8AC3937F-6660-4C47-B844-404AD942FDAA}" dt="2025-07-28T07:43:50.416" v="0" actId="108"/>
          <ac:spMkLst>
            <pc:docMk/>
            <pc:sldMk cId="4000108887" sldId="259"/>
            <ac:spMk id="2" creationId="{F91DE2FB-C48F-C292-091C-A549C508C635}"/>
          </ac:spMkLst>
        </pc:spChg>
        <pc:spChg chg="mod">
          <ac:chgData name="Vanita FITT" userId="5c36314137c738fc" providerId="LiveId" clId="{8AC3937F-6660-4C47-B844-404AD942FDAA}" dt="2025-07-28T07:44:05.868" v="1" actId="20577"/>
          <ac:spMkLst>
            <pc:docMk/>
            <pc:sldMk cId="4000108887" sldId="259"/>
            <ac:spMk id="3" creationId="{60056221-B78C-8768-CDA2-53F8877D9C67}"/>
          </ac:spMkLst>
        </pc:spChg>
      </pc:sldChg>
      <pc:sldChg chg="modSp mod">
        <pc:chgData name="Vanita FITT" userId="5c36314137c738fc" providerId="LiveId" clId="{8AC3937F-6660-4C47-B844-404AD942FDAA}" dt="2025-07-28T08:04:13.530" v="125" actId="20577"/>
        <pc:sldMkLst>
          <pc:docMk/>
          <pc:sldMk cId="449408850" sldId="260"/>
        </pc:sldMkLst>
        <pc:spChg chg="mod">
          <ac:chgData name="Vanita FITT" userId="5c36314137c738fc" providerId="LiveId" clId="{8AC3937F-6660-4C47-B844-404AD942FDAA}" dt="2025-07-28T08:04:13.530" v="125" actId="20577"/>
          <ac:spMkLst>
            <pc:docMk/>
            <pc:sldMk cId="449408850" sldId="260"/>
            <ac:spMk id="3" creationId="{BF222BA0-A139-C7ED-A7B5-C24FE57D3BE8}"/>
          </ac:spMkLst>
        </pc:spChg>
      </pc:sldChg>
      <pc:sldChg chg="modSp mod ord">
        <pc:chgData name="Vanita FITT" userId="5c36314137c738fc" providerId="LiveId" clId="{8AC3937F-6660-4C47-B844-404AD942FDAA}" dt="2025-07-28T07:45:25.359" v="74"/>
        <pc:sldMkLst>
          <pc:docMk/>
          <pc:sldMk cId="3070865725" sldId="265"/>
        </pc:sldMkLst>
        <pc:spChg chg="mod">
          <ac:chgData name="Vanita FITT" userId="5c36314137c738fc" providerId="LiveId" clId="{8AC3937F-6660-4C47-B844-404AD942FDAA}" dt="2025-07-28T07:44:57.942" v="72" actId="20577"/>
          <ac:spMkLst>
            <pc:docMk/>
            <pc:sldMk cId="3070865725" sldId="265"/>
            <ac:spMk id="3" creationId="{4E423F37-A0D0-88D1-760B-CD227644CCAA}"/>
          </ac:spMkLst>
        </pc:spChg>
      </pc:sldChg>
      <pc:sldChg chg="modSp mod">
        <pc:chgData name="Vanita FITT" userId="5c36314137c738fc" providerId="LiveId" clId="{8AC3937F-6660-4C47-B844-404AD942FDAA}" dt="2025-07-28T07:46:22.079" v="77" actId="6549"/>
        <pc:sldMkLst>
          <pc:docMk/>
          <pc:sldMk cId="2444140668" sldId="270"/>
        </pc:sldMkLst>
        <pc:spChg chg="mod">
          <ac:chgData name="Vanita FITT" userId="5c36314137c738fc" providerId="LiveId" clId="{8AC3937F-6660-4C47-B844-404AD942FDAA}" dt="2025-07-28T07:46:22.079" v="77" actId="6549"/>
          <ac:spMkLst>
            <pc:docMk/>
            <pc:sldMk cId="2444140668" sldId="270"/>
            <ac:spMk id="3" creationId="{95C4AC9B-08C5-61F8-D88E-8DE84E7B0E31}"/>
          </ac:spMkLst>
        </pc:spChg>
      </pc:sldChg>
      <pc:sldChg chg="modSp mod modClrScheme chgLayout">
        <pc:chgData name="Vanita FITT" userId="5c36314137c738fc" providerId="LiveId" clId="{8AC3937F-6660-4C47-B844-404AD942FDAA}" dt="2025-07-28T07:53:30.696" v="97" actId="1076"/>
        <pc:sldMkLst>
          <pc:docMk/>
          <pc:sldMk cId="3707797197" sldId="271"/>
        </pc:sldMkLst>
        <pc:spChg chg="mod ord">
          <ac:chgData name="Vanita FITT" userId="5c36314137c738fc" providerId="LiveId" clId="{8AC3937F-6660-4C47-B844-404AD942FDAA}" dt="2025-07-28T07:46:00.222" v="76" actId="700"/>
          <ac:spMkLst>
            <pc:docMk/>
            <pc:sldMk cId="3707797197" sldId="271"/>
            <ac:spMk id="2" creationId="{8552181B-B96B-4E12-5EF0-FC2D5A79F518}"/>
          </ac:spMkLst>
        </pc:spChg>
        <pc:spChg chg="mod ord">
          <ac:chgData name="Vanita FITT" userId="5c36314137c738fc" providerId="LiveId" clId="{8AC3937F-6660-4C47-B844-404AD942FDAA}" dt="2025-07-28T07:53:30.696" v="97" actId="1076"/>
          <ac:spMkLst>
            <pc:docMk/>
            <pc:sldMk cId="3707797197" sldId="271"/>
            <ac:spMk id="3" creationId="{68A58601-EB9B-E738-9B82-902ACB6C73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41B25-43DD-4EB2-ACCC-EFD2A032C11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69BCE-6DA3-41AC-849A-285A58C3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49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A14-FBCC-4D7A-A570-5800F440731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575-2817-4463-A11A-1527E8AA0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584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A14-FBCC-4D7A-A570-5800F440731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575-2817-4463-A11A-1527E8AA0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618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A14-FBCC-4D7A-A570-5800F440731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575-2817-4463-A11A-1527E8AA0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53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A14-FBCC-4D7A-A570-5800F440731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575-2817-4463-A11A-1527E8AA0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93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A14-FBCC-4D7A-A570-5800F440731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575-2817-4463-A11A-1527E8AA0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6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A14-FBCC-4D7A-A570-5800F440731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575-2817-4463-A11A-1527E8AA0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55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A14-FBCC-4D7A-A570-5800F440731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575-2817-4463-A11A-1527E8AA0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51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A14-FBCC-4D7A-A570-5800F440731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575-2817-4463-A11A-1527E8AA0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584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A14-FBCC-4D7A-A570-5800F440731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575-2817-4463-A11A-1527E8AA0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193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A14-FBCC-4D7A-A570-5800F440731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575-2817-4463-A11A-1527E8AA0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507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A14-FBCC-4D7A-A570-5800F440731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575-2817-4463-A11A-1527E8AA0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06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C7A14-FBCC-4D7A-A570-5800F440731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3C575-2817-4463-A11A-1527E8AA0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1046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gurusumithss2005@gmail.com" TargetMode="External"/><Relationship Id="rId7" Type="http://schemas.openxmlformats.org/officeDocument/2006/relationships/hyperlink" Target="https://drive.google.com/drive/folders/1o7pWQ_kgZuBZX9CL7S0BEn8R69LMICp1?usp=sharing" TargetMode="External"/><Relationship Id="rId2" Type="http://schemas.openxmlformats.org/officeDocument/2006/relationships/hyperlink" Target="9110341228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.png"/><Relationship Id="rId4" Type="http://schemas.openxmlformats.org/officeDocument/2006/relationships/hyperlink" Target="https://www.linkedin.com/in/guru-sai-sumith10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EABB5F83-328B-F1E8-C46B-C688D6D8F4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310" b="27813"/>
          <a:stretch/>
        </p:blipFill>
        <p:spPr>
          <a:xfrm>
            <a:off x="8927690" y="3811515"/>
            <a:ext cx="3264309" cy="3046485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935DA45-D66D-77FD-4E17-0659802F3E74}"/>
              </a:ext>
            </a:extLst>
          </p:cNvPr>
          <p:cNvSpPr/>
          <p:nvPr/>
        </p:nvSpPr>
        <p:spPr>
          <a:xfrm>
            <a:off x="5233360" y="692646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600" b="1" dirty="0" err="1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DrishtiSport</a:t>
            </a:r>
            <a:r>
              <a:rPr lang="en-US" sz="86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 AI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3200" b="1" dirty="0">
              <a:latin typeface="Samsung Sharp Sans"/>
              <a:ea typeface="Noto Serif Bold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57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Turning Every Rural Playground Into a Biomechanics Lab</a:t>
            </a:r>
            <a:endParaRPr lang="en-US" sz="57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BD252B-CF3D-D974-138D-375363A57762}"/>
              </a:ext>
            </a:extLst>
          </p:cNvPr>
          <p:cNvSpPr/>
          <p:nvPr/>
        </p:nvSpPr>
        <p:spPr>
          <a:xfrm>
            <a:off x="5233360" y="304374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Samsung Solve for Tomorrow 2026 | Theme 3: Sport &amp; Tech</a:t>
            </a:r>
            <a:endParaRPr lang="en-US" sz="2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BBDADD-BCD7-C17E-D9CC-E1E5DFA61ECE}"/>
              </a:ext>
            </a:extLst>
          </p:cNvPr>
          <p:cNvSpPr/>
          <p:nvPr/>
        </p:nvSpPr>
        <p:spPr>
          <a:xfrm>
            <a:off x="5301737" y="3802758"/>
            <a:ext cx="3989747" cy="1565222"/>
          </a:xfrm>
          <a:prstGeom prst="roundRect">
            <a:avLst>
              <a:gd name="adj" fmla="val 846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7342D2-DF5A-8D91-5C01-18B7E11ED85D}"/>
              </a:ext>
            </a:extLst>
          </p:cNvPr>
          <p:cNvSpPr/>
          <p:nvPr/>
        </p:nvSpPr>
        <p:spPr>
          <a:xfrm>
            <a:off x="5447935" y="3802758"/>
            <a:ext cx="3764892" cy="144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24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Project Name: </a:t>
            </a:r>
            <a:r>
              <a:rPr lang="en-IN" sz="2400" b="1" dirty="0" err="1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DrishtiSport</a:t>
            </a:r>
            <a:r>
              <a:rPr lang="en-IN" sz="24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 AI </a:t>
            </a:r>
            <a:r>
              <a:rPr lang="en-IN" sz="2400" dirty="0">
                <a:solidFill>
                  <a:schemeClr val="bg1"/>
                </a:solidFill>
                <a:latin typeface="Samsung Sharp Sans"/>
              </a:rPr>
              <a:t> </a:t>
            </a:r>
            <a:endParaRPr lang="en-US" sz="2400" b="1" dirty="0">
              <a:solidFill>
                <a:schemeClr val="bg1"/>
              </a:solidFill>
              <a:latin typeface="Samsung Sharp Sans"/>
              <a:ea typeface="Noto Serif Bold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Team Name : </a:t>
            </a:r>
            <a:r>
              <a:rPr lang="en-IN" sz="24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Samsung4all</a:t>
            </a:r>
          </a:p>
          <a:p>
            <a:pPr>
              <a:lnSpc>
                <a:spcPct val="104000"/>
              </a:lnSpc>
            </a:pPr>
            <a:r>
              <a:rPr lang="en-IN" sz="24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Solo Builder: Guru Sai Sumith</a:t>
            </a:r>
          </a:p>
          <a:p>
            <a:pPr>
              <a:lnSpc>
                <a:spcPct val="104000"/>
              </a:lnSpc>
            </a:pPr>
            <a:r>
              <a:rPr lang="en-IN" sz="24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Theme 3: Sport &amp; Tech</a:t>
            </a:r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0B71816E-6C19-063C-57A6-A5C9326E4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5114926" cy="684439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22362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82"/>
    </mc:Choice>
    <mc:Fallback>
      <p:transition spd="slow" advTm="1028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8AB49713-91BF-C0AC-601B-20784D9333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05847" y="635017"/>
            <a:ext cx="2156682" cy="256056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CB0A838-4B66-80A1-E7F9-8FD860DF4B88}"/>
              </a:ext>
            </a:extLst>
          </p:cNvPr>
          <p:cNvSpPr/>
          <p:nvPr/>
        </p:nvSpPr>
        <p:spPr>
          <a:xfrm>
            <a:off x="5207503" y="409178"/>
            <a:ext cx="6355199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Introduction / Team</a:t>
            </a:r>
            <a:endParaRPr lang="en-US" sz="4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C587F6-6953-C1F0-CF02-A8784FE32C8D}"/>
              </a:ext>
            </a:extLst>
          </p:cNvPr>
          <p:cNvSpPr/>
          <p:nvPr/>
        </p:nvSpPr>
        <p:spPr>
          <a:xfrm>
            <a:off x="5148629" y="1091678"/>
            <a:ext cx="6355199" cy="1661821"/>
          </a:xfrm>
          <a:prstGeom prst="roundRect">
            <a:avLst>
              <a:gd name="adj" fmla="val 17448"/>
            </a:avLst>
          </a:prstGeom>
          <a:solidFill>
            <a:srgbClr val="CCFFEF"/>
          </a:solidFill>
          <a:ln/>
        </p:spPr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645AF40-DCEF-EC91-DDE9-BA6BCBC5F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686" y="1427050"/>
            <a:ext cx="212620" cy="170061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1D76D38-7274-2B42-9F2C-77C122AD7C1E}"/>
              </a:ext>
            </a:extLst>
          </p:cNvPr>
          <p:cNvSpPr/>
          <p:nvPr/>
        </p:nvSpPr>
        <p:spPr>
          <a:xfrm>
            <a:off x="5701363" y="1271860"/>
            <a:ext cx="563240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2400" b="1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Vision</a:t>
            </a:r>
            <a:r>
              <a:rPr lang="en-US" sz="240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: "One builder, one mission - put elite biomechanics in every rural coach's pocket for Bharat's 98% underserved athletes "</a:t>
            </a:r>
            <a:endParaRPr lang="en-US" sz="24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A4D7402-6DFC-E939-3EE4-9B7C40A1B3CE}"/>
              </a:ext>
            </a:extLst>
          </p:cNvPr>
          <p:cNvSpPr/>
          <p:nvPr/>
        </p:nvSpPr>
        <p:spPr>
          <a:xfrm>
            <a:off x="5210752" y="3077597"/>
            <a:ext cx="6498640" cy="1026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7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Backed by structured mentorship: FITT-IIT Delhi design-thinking sessions </a:t>
            </a:r>
          </a:p>
          <a:p>
            <a:pPr>
              <a:lnSpc>
                <a:spcPct val="127000"/>
              </a:lnSpc>
            </a:pPr>
            <a:r>
              <a:rPr lang="en-US" sz="17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[Abhishek Maurya, Arpan Kansal, </a:t>
            </a:r>
          </a:p>
          <a:p>
            <a:pPr>
              <a:lnSpc>
                <a:spcPct val="127000"/>
              </a:lnSpc>
            </a:pPr>
            <a:r>
              <a:rPr lang="en-US" sz="17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Vaibhav Singh Parihar, Vanita Vasudeva, Dhruvi Sharma]</a:t>
            </a:r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8D21CC45-9238-EA66-A533-AB2A2DBDEE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951" y="4233555"/>
            <a:ext cx="425241" cy="425252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44135041-43FB-382D-04ED-522B74F7473F}"/>
              </a:ext>
            </a:extLst>
          </p:cNvPr>
          <p:cNvSpPr/>
          <p:nvPr/>
        </p:nvSpPr>
        <p:spPr>
          <a:xfrm>
            <a:off x="982951" y="4850100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Full Stack AI-ML Engineer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F48BFCA-3F57-A685-2B17-683425178CD3}"/>
              </a:ext>
            </a:extLst>
          </p:cNvPr>
          <p:cNvSpPr/>
          <p:nvPr/>
        </p:nvSpPr>
        <p:spPr>
          <a:xfrm>
            <a:off x="982951" y="5207585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5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Computer Vision &amp; ONNX model</a:t>
            </a:r>
          </a:p>
          <a:p>
            <a:pPr marL="0" indent="0" algn="l">
              <a:lnSpc>
                <a:spcPct val="127000"/>
              </a:lnSpc>
              <a:buNone/>
            </a:pPr>
            <a:r>
              <a:rPr lang="en-US" sz="15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Pose estimation, model quantization, </a:t>
            </a:r>
          </a:p>
          <a:p>
            <a:pPr marL="0" indent="0" algn="l">
              <a:lnSpc>
                <a:spcPct val="127000"/>
              </a:lnSpc>
              <a:buNone/>
            </a:pPr>
            <a:r>
              <a:rPr lang="en-US" sz="15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on-device inference pipelines.</a:t>
            </a:r>
            <a:endParaRPr lang="en-US" sz="1500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E740ACD4-6DE0-3E12-A0C7-B4A4BA697B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8306" y="4233555"/>
            <a:ext cx="425241" cy="425252"/>
          </a:xfrm>
          <a:prstGeom prst="rect">
            <a:avLst/>
          </a:prstGeom>
        </p:spPr>
      </p:pic>
      <p:sp>
        <p:nvSpPr>
          <p:cNvPr id="12" name="Text 9">
            <a:extLst>
              <a:ext uri="{FF2B5EF4-FFF2-40B4-BE49-F238E27FC236}">
                <a16:creationId xmlns:a16="http://schemas.microsoft.com/office/drawing/2014/main" id="{E05DCF9E-9542-ED69-1568-A4E2148686A1}"/>
              </a:ext>
            </a:extLst>
          </p:cNvPr>
          <p:cNvSpPr/>
          <p:nvPr/>
        </p:nvSpPr>
        <p:spPr>
          <a:xfrm>
            <a:off x="4348305" y="4850100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Flutter / Mobile App Development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377D435-E595-B8F2-38F0-2F76F359FE53}"/>
              </a:ext>
            </a:extLst>
          </p:cNvPr>
          <p:cNvSpPr/>
          <p:nvPr/>
        </p:nvSpPr>
        <p:spPr>
          <a:xfrm>
            <a:off x="4348306" y="5207585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5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Cross-platform app, offline-first UX, </a:t>
            </a:r>
          </a:p>
          <a:p>
            <a:pPr marL="0" indent="0" algn="l">
              <a:lnSpc>
                <a:spcPct val="127000"/>
              </a:lnSpc>
              <a:buNone/>
            </a:pPr>
            <a:r>
              <a:rPr lang="en-US" sz="15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local audio alerts and logging.</a:t>
            </a:r>
            <a:endParaRPr lang="en-US" sz="1500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77B517E6-4A1B-216B-CE4D-E72DD85320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6307" y="4233555"/>
            <a:ext cx="425241" cy="425252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3DC31E12-7E70-A14D-4AD3-E6F56A599674}"/>
              </a:ext>
            </a:extLst>
          </p:cNvPr>
          <p:cNvSpPr/>
          <p:nvPr/>
        </p:nvSpPr>
        <p:spPr>
          <a:xfrm>
            <a:off x="8328101" y="4850100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Grassroots Sport Practice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1CE01FA-9122-D2E5-CBE7-D7FEB6ACA657}"/>
              </a:ext>
            </a:extLst>
          </p:cNvPr>
          <p:cNvSpPr/>
          <p:nvPr/>
        </p:nvSpPr>
        <p:spPr>
          <a:xfrm>
            <a:off x="8337034" y="5187292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5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Hands-on coaching experience and contextualised thresholds for rural use.</a:t>
            </a:r>
            <a:endParaRPr lang="en-US" sz="15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211CEA5F-8A43-9761-243E-D14116CFFD2B}"/>
              </a:ext>
            </a:extLst>
          </p:cNvPr>
          <p:cNvSpPr/>
          <p:nvPr/>
        </p:nvSpPr>
        <p:spPr>
          <a:xfrm>
            <a:off x="1054008" y="3262591"/>
            <a:ext cx="2860360" cy="849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Guru Sai Sumith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Solo Founder &amp; Builder</a:t>
            </a:r>
          </a:p>
          <a:p>
            <a:pPr algn="ctr">
              <a:lnSpc>
                <a:spcPct val="104000"/>
              </a:lnSpc>
            </a:pPr>
            <a:r>
              <a:rPr lang="en-IN" sz="1200" dirty="0"/>
              <a:t>Gayatri Vidya Parishad College of Engineering </a:t>
            </a:r>
            <a:endParaRPr lang="en-US" sz="12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A6356E3D-463E-FE7B-45E3-3D1C1D2E049A}"/>
              </a:ext>
            </a:extLst>
          </p:cNvPr>
          <p:cNvSpPr/>
          <p:nvPr/>
        </p:nvSpPr>
        <p:spPr>
          <a:xfrm>
            <a:off x="2410228" y="6519137"/>
            <a:ext cx="7372297" cy="2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Samsung Solve for Tomorrow 2026 | FITT, IIT Delhi | Samsung4all | Theme 3: Sport &amp; Tech</a:t>
            </a:r>
            <a:endParaRPr lang="en-US" sz="1450" b="1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72B8132-29A7-59DF-830B-E74C001A239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1333" t="18750" r="1" b="13632"/>
          <a:stretch>
            <a:fillRect/>
          </a:stretch>
        </p:blipFill>
        <p:spPr>
          <a:xfrm>
            <a:off x="10887573" y="5854456"/>
            <a:ext cx="1246748" cy="9448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4151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34"/>
    </mc:Choice>
    <mc:Fallback>
      <p:transition spd="slow" advTm="1333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>
            <a:extLst>
              <a:ext uri="{FF2B5EF4-FFF2-40B4-BE49-F238E27FC236}">
                <a16:creationId xmlns:a16="http://schemas.microsoft.com/office/drawing/2014/main" id="{5F91DC99-1254-09C2-ECDD-E0F956B6B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071CCCC7-F11A-61E2-C49F-14A55F87C8F1}"/>
              </a:ext>
            </a:extLst>
          </p:cNvPr>
          <p:cNvSpPr/>
          <p:nvPr/>
        </p:nvSpPr>
        <p:spPr>
          <a:xfrm>
            <a:off x="5227010" y="363052"/>
            <a:ext cx="6296860" cy="434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 Problem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6400" b="1" dirty="0">
              <a:latin typeface="Samsung Sharp Sans"/>
              <a:ea typeface="Noto Serif Bold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4000"/>
              </a:lnSpc>
            </a:pPr>
            <a:r>
              <a:rPr lang="en-US" sz="10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A Biomechanics Gap No One Is Pricing For</a:t>
            </a:r>
            <a:r>
              <a:rPr lang="en-US" sz="265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 </a:t>
            </a:r>
            <a:endParaRPr lang="en-US" sz="55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C6FD798C-0106-2CF9-46DA-C1C4D77DDB5E}"/>
              </a:ext>
            </a:extLst>
          </p:cNvPr>
          <p:cNvSpPr/>
          <p:nvPr/>
        </p:nvSpPr>
        <p:spPr>
          <a:xfrm>
            <a:off x="5233360" y="2015430"/>
            <a:ext cx="6296860" cy="3217863"/>
          </a:xfrm>
          <a:prstGeom prst="roundRect">
            <a:avLst>
              <a:gd name="adj" fmla="val 475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3FAAC593-F862-A563-BA6E-B23DF7094E60}"/>
              </a:ext>
            </a:extLst>
          </p:cNvPr>
          <p:cNvSpPr/>
          <p:nvPr/>
        </p:nvSpPr>
        <p:spPr>
          <a:xfrm>
            <a:off x="5239710" y="2021780"/>
            <a:ext cx="3142080" cy="1731863"/>
          </a:xfrm>
          <a:custGeom>
            <a:avLst/>
            <a:gdLst/>
            <a:ahLst/>
            <a:cxnLst/>
            <a:rect l="l" t="t" r="r" b="b"/>
            <a:pathLst>
              <a:path w="3142080" h="1731863">
                <a:moveTo>
                  <a:pt x="127587" y="0"/>
                </a:moveTo>
                <a:lnTo>
                  <a:pt x="3142080" y="0"/>
                </a:lnTo>
                <a:lnTo>
                  <a:pt x="3142080" y="1731863"/>
                </a:lnTo>
                <a:lnTo>
                  <a:pt x="0" y="1731863"/>
                </a:lnTo>
                <a:lnTo>
                  <a:pt x="0" y="127591"/>
                </a:lnTo>
                <a:arcTo wR="127587" hR="127591" stAng="10800000" swAng="5400000"/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66917529-12D9-2E91-5C87-434E308F0E88}"/>
              </a:ext>
            </a:extLst>
          </p:cNvPr>
          <p:cNvSpPr/>
          <p:nvPr/>
        </p:nvSpPr>
        <p:spPr>
          <a:xfrm>
            <a:off x="5409767" y="2191841"/>
            <a:ext cx="28019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Access Gap</a:t>
            </a:r>
            <a:endParaRPr lang="en-US" sz="20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0F981394-7A79-A67A-A2FD-96E8366ED708}"/>
              </a:ext>
            </a:extLst>
          </p:cNvPr>
          <p:cNvSpPr/>
          <p:nvPr/>
        </p:nvSpPr>
        <p:spPr>
          <a:xfrm>
            <a:off x="5409767" y="2549327"/>
            <a:ext cx="2801967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98% of rural Indian athlete's train with zero biomechanical analysis - the difference between raw talent and injury-free performance.</a:t>
            </a:r>
            <a:endParaRPr lang="en-US" sz="20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741188A0-4E84-C2FD-36D6-31CCB66C4DB7}"/>
              </a:ext>
            </a:extLst>
          </p:cNvPr>
          <p:cNvSpPr/>
          <p:nvPr/>
        </p:nvSpPr>
        <p:spPr>
          <a:xfrm>
            <a:off x="8381790" y="2021780"/>
            <a:ext cx="3142080" cy="1731863"/>
          </a:xfrm>
          <a:custGeom>
            <a:avLst/>
            <a:gdLst/>
            <a:ahLst/>
            <a:cxnLst/>
            <a:rect l="l" t="t" r="r" b="b"/>
            <a:pathLst>
              <a:path w="3142080" h="1731863">
                <a:moveTo>
                  <a:pt x="0" y="0"/>
                </a:moveTo>
                <a:lnTo>
                  <a:pt x="3014493" y="0"/>
                </a:lnTo>
                <a:arcTo wR="127587" hR="127591" stAng="16200000" swAng="5400000"/>
                <a:lnTo>
                  <a:pt x="3142080" y="1731863"/>
                </a:lnTo>
                <a:lnTo>
                  <a:pt x="0" y="1731863"/>
                </a:lnTo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96844D1E-306C-ABAD-FD72-4CF4155FC5A4}"/>
              </a:ext>
            </a:extLst>
          </p:cNvPr>
          <p:cNvSpPr/>
          <p:nvPr/>
        </p:nvSpPr>
        <p:spPr>
          <a:xfrm>
            <a:off x="8381790" y="2021780"/>
            <a:ext cx="19050" cy="1731863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083FDE82-FD09-6DA5-5AE7-AA52DDCAB10A}"/>
              </a:ext>
            </a:extLst>
          </p:cNvPr>
          <p:cNvSpPr/>
          <p:nvPr/>
        </p:nvSpPr>
        <p:spPr>
          <a:xfrm>
            <a:off x="8551847" y="2191841"/>
            <a:ext cx="28019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Cost Barrier</a:t>
            </a:r>
            <a:endParaRPr lang="en-US" sz="20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0AB1A3-7B93-B184-0E3D-F2D76A226B2C}"/>
              </a:ext>
            </a:extLst>
          </p:cNvPr>
          <p:cNvSpPr/>
          <p:nvPr/>
        </p:nvSpPr>
        <p:spPr>
          <a:xfrm>
            <a:off x="8551847" y="2549327"/>
            <a:ext cx="2801967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Elite motion-capture labs cost ₹5,000+/hour - restricted to national academies, unreachable for Tier 2/3 coaches.</a:t>
            </a:r>
            <a:endParaRPr lang="en-US" sz="20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A48F8586-8DBB-EDBC-DC3D-3F6F3444A5B4}"/>
              </a:ext>
            </a:extLst>
          </p:cNvPr>
          <p:cNvSpPr/>
          <p:nvPr/>
        </p:nvSpPr>
        <p:spPr>
          <a:xfrm>
            <a:off x="5239710" y="3753644"/>
            <a:ext cx="6290510" cy="1816732"/>
          </a:xfrm>
          <a:custGeom>
            <a:avLst/>
            <a:gdLst/>
            <a:ahLst/>
            <a:cxnLst/>
            <a:rect l="l" t="t" r="r" b="b"/>
            <a:pathLst>
              <a:path w="6284160" h="1473299">
                <a:moveTo>
                  <a:pt x="0" y="0"/>
                </a:moveTo>
                <a:lnTo>
                  <a:pt x="6284160" y="0"/>
                </a:lnTo>
                <a:lnTo>
                  <a:pt x="6284160" y="1345709"/>
                </a:lnTo>
                <a:arcTo wR="127587" hR="127591" stAng="0" swAng="5400000"/>
                <a:lnTo>
                  <a:pt x="127587" y="1473299"/>
                </a:lnTo>
                <a:arcTo wR="127587" hR="127591" stAng="5400000" swAng="5400000"/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2FD7FA52-11B3-0508-675D-5E0A9891D16A}"/>
              </a:ext>
            </a:extLst>
          </p:cNvPr>
          <p:cNvSpPr/>
          <p:nvPr/>
        </p:nvSpPr>
        <p:spPr>
          <a:xfrm>
            <a:off x="5239710" y="3753644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D087DAAA-E953-E076-4973-C6D9CBD77C5C}"/>
              </a:ext>
            </a:extLst>
          </p:cNvPr>
          <p:cNvSpPr/>
          <p:nvPr/>
        </p:nvSpPr>
        <p:spPr>
          <a:xfrm>
            <a:off x="5409767" y="3923705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Detection Barrier</a:t>
            </a:r>
            <a:endParaRPr lang="en-US" sz="20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0ACB5520-D6F1-43CB-7DFE-ECDF145B0138}"/>
              </a:ext>
            </a:extLst>
          </p:cNvPr>
          <p:cNvSpPr/>
          <p:nvPr/>
        </p:nvSpPr>
        <p:spPr>
          <a:xfrm>
            <a:off x="5409767" y="4281190"/>
            <a:ext cx="5944047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ICC Law 24.3 sets a 15° elbow-extension limit for bowling legality - rural umpires/coaches lack objective tools; bowlers can be called out unfairly or injured.</a:t>
            </a:r>
            <a:endParaRPr lang="en-US" sz="20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9AF54C60-CC23-B1D0-B1F8-3088B7904D69}"/>
              </a:ext>
            </a:extLst>
          </p:cNvPr>
          <p:cNvSpPr/>
          <p:nvPr/>
        </p:nvSpPr>
        <p:spPr>
          <a:xfrm>
            <a:off x="3455257" y="6524354"/>
            <a:ext cx="7372297" cy="2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Samsung Solve for Tomorrow 2026 | FITT, IIT Delhi | Samsung4all | Theme 3: Sport &amp; Tech</a:t>
            </a:r>
            <a:endParaRPr lang="en-US" sz="1450" b="1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9A7274F-9AE0-354C-6674-B999F6B170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33" t="18750" r="1" b="13632"/>
          <a:stretch>
            <a:fillRect/>
          </a:stretch>
        </p:blipFill>
        <p:spPr>
          <a:xfrm>
            <a:off x="10887573" y="5854456"/>
            <a:ext cx="1246748" cy="9448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872028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754"/>
    </mc:Choice>
    <mc:Fallback>
      <p:transition spd="slow" advTm="3175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8BA2D-C02B-8DD5-3B80-6CBD412A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ED53B7-EB82-11B9-4DAD-35F539397B3C}"/>
              </a:ext>
            </a:extLst>
          </p:cNvPr>
          <p:cNvSpPr/>
          <p:nvPr/>
        </p:nvSpPr>
        <p:spPr>
          <a:xfrm>
            <a:off x="5925866" y="230489"/>
            <a:ext cx="5825922" cy="86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Solution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 err="1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DrishtiSport</a:t>
            </a:r>
            <a:r>
              <a:rPr lang="en-US" sz="2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 AI: Biomechanics in Every Pocket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9EA4DC9-6B59-3719-787C-B6C96D03BA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25" b="18300"/>
          <a:stretch>
            <a:fillRect/>
          </a:stretch>
        </p:blipFill>
        <p:spPr>
          <a:xfrm>
            <a:off x="142258" y="714572"/>
            <a:ext cx="6015519" cy="2337109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0670E2F-2303-D6EB-5B6A-0FDDEA4A3106}"/>
              </a:ext>
            </a:extLst>
          </p:cNvPr>
          <p:cNvSpPr/>
          <p:nvPr/>
        </p:nvSpPr>
        <p:spPr>
          <a:xfrm>
            <a:off x="142258" y="1963327"/>
            <a:ext cx="1720569" cy="16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Phone Camera</a:t>
            </a:r>
            <a:endParaRPr lang="en-US" sz="16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B0ED517-7ADB-6B56-2FF3-C89EBE0AEB5C}"/>
              </a:ext>
            </a:extLst>
          </p:cNvPr>
          <p:cNvSpPr/>
          <p:nvPr/>
        </p:nvSpPr>
        <p:spPr>
          <a:xfrm>
            <a:off x="1862827" y="847697"/>
            <a:ext cx="1776466" cy="16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Pose Extraction</a:t>
            </a:r>
            <a:endParaRPr lang="en-US" sz="16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AE1AF5F-9978-52B2-4C93-5DB9F708238A}"/>
              </a:ext>
            </a:extLst>
          </p:cNvPr>
          <p:cNvSpPr/>
          <p:nvPr/>
        </p:nvSpPr>
        <p:spPr>
          <a:xfrm>
            <a:off x="2638390" y="2660768"/>
            <a:ext cx="1720569" cy="325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ONNX Angle Model</a:t>
            </a:r>
            <a:endParaRPr lang="en-US" sz="16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16A736A-F64E-4007-27A5-58AD56B21766}"/>
              </a:ext>
            </a:extLst>
          </p:cNvPr>
          <p:cNvSpPr/>
          <p:nvPr/>
        </p:nvSpPr>
        <p:spPr>
          <a:xfrm>
            <a:off x="4175946" y="1195569"/>
            <a:ext cx="1720569" cy="16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Alert &amp; Log</a:t>
            </a:r>
            <a:endParaRPr lang="en-US" sz="16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3708B7E-A066-0104-2FA7-B7823A8FD1B1}"/>
              </a:ext>
            </a:extLst>
          </p:cNvPr>
          <p:cNvSpPr/>
          <p:nvPr/>
        </p:nvSpPr>
        <p:spPr>
          <a:xfrm>
            <a:off x="453580" y="3525322"/>
            <a:ext cx="5825922" cy="41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8000"/>
              </a:lnSpc>
              <a:spcAft>
                <a:spcPts val="100"/>
              </a:spcAft>
              <a:buNone/>
            </a:pPr>
            <a:r>
              <a:rPr lang="en-US" sz="16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Free, 100% offline smartphone app converting any budget camera into a real-time biomechanics coach - no wearables, no lab, no internet.</a:t>
            </a:r>
            <a:endParaRPr lang="en-US" sz="1600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59B3EFAE-6D94-E524-7658-72C589ECC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670" y="1309155"/>
            <a:ext cx="5116900" cy="2899615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B4DEF1E9-5226-4060-C981-543FB5550B85}"/>
              </a:ext>
            </a:extLst>
          </p:cNvPr>
          <p:cNvSpPr/>
          <p:nvPr/>
        </p:nvSpPr>
        <p:spPr>
          <a:xfrm>
            <a:off x="428294" y="4066234"/>
            <a:ext cx="5497572" cy="46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User benefit: instant objective feedback, early fault detection, 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en-US" sz="16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timestamped performance logs for scouts. 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76722A65-2D6D-5DC5-063D-3BBED2726AF4}"/>
              </a:ext>
            </a:extLst>
          </p:cNvPr>
          <p:cNvSpPr/>
          <p:nvPr/>
        </p:nvSpPr>
        <p:spPr>
          <a:xfrm>
            <a:off x="320530" y="4639701"/>
            <a:ext cx="3486567" cy="1419663"/>
          </a:xfrm>
          <a:prstGeom prst="roundRect">
            <a:avLst>
              <a:gd name="adj" fmla="val 17326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7F51395A-4629-13D6-927A-7F188E6725F9}"/>
              </a:ext>
            </a:extLst>
          </p:cNvPr>
          <p:cNvSpPr/>
          <p:nvPr/>
        </p:nvSpPr>
        <p:spPr>
          <a:xfrm>
            <a:off x="463189" y="4705025"/>
            <a:ext cx="3065960" cy="396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B4A4A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Flagship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B084531-97AD-B663-E5A4-36E170ACFB27}"/>
              </a:ext>
            </a:extLst>
          </p:cNvPr>
          <p:cNvSpPr/>
          <p:nvPr/>
        </p:nvSpPr>
        <p:spPr>
          <a:xfrm>
            <a:off x="446179" y="5007788"/>
            <a:ext cx="3065960" cy="94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Free 100% Offline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Cricket bowling-action analysis;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flags illegal elbow extension vs ICC 15°</a:t>
            </a:r>
          </a:p>
          <a:p>
            <a:r>
              <a:rPr lang="en-US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local-language audio alert </a:t>
            </a:r>
            <a:endParaRPr lang="en-US" sz="1600" dirty="0">
              <a:solidFill>
                <a:srgbClr val="4B4A4A"/>
              </a:solidFill>
              <a:latin typeface="Samsung Sharp Sans"/>
              <a:ea typeface="Geist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B2B7E084-8E80-0873-EF15-371602410FAC}"/>
              </a:ext>
            </a:extLst>
          </p:cNvPr>
          <p:cNvSpPr/>
          <p:nvPr/>
        </p:nvSpPr>
        <p:spPr>
          <a:xfrm>
            <a:off x="4003507" y="4648998"/>
            <a:ext cx="3159449" cy="1440746"/>
          </a:xfrm>
          <a:prstGeom prst="roundRect">
            <a:avLst>
              <a:gd name="adj" fmla="val 17326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IN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783FDC0-99C0-0F62-14FF-78DFAFE16AD1}"/>
              </a:ext>
            </a:extLst>
          </p:cNvPr>
          <p:cNvSpPr/>
          <p:nvPr/>
        </p:nvSpPr>
        <p:spPr>
          <a:xfrm>
            <a:off x="4100240" y="4735947"/>
            <a:ext cx="2867655" cy="234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B4A4A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On-device Tech: Core Engine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5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B2B944EA-C591-C4D1-9FC7-1DE8C303CF30}"/>
              </a:ext>
            </a:extLst>
          </p:cNvPr>
          <p:cNvSpPr/>
          <p:nvPr/>
        </p:nvSpPr>
        <p:spPr>
          <a:xfrm>
            <a:off x="4119960" y="5007788"/>
            <a:ext cx="2627706" cy="103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MediaPipe</a:t>
            </a: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 pose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lightweight ONNX angle model</a:t>
            </a:r>
          </a:p>
          <a:p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on-device pose estimation</a:t>
            </a:r>
          </a:p>
          <a:p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frame-by-frame</a:t>
            </a:r>
          </a:p>
          <a:p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2511E8C6-3424-3D38-E4CE-150A828FC83C}"/>
              </a:ext>
            </a:extLst>
          </p:cNvPr>
          <p:cNvSpPr/>
          <p:nvPr/>
        </p:nvSpPr>
        <p:spPr>
          <a:xfrm>
            <a:off x="7333758" y="4639702"/>
            <a:ext cx="3387115" cy="1450042"/>
          </a:xfrm>
          <a:prstGeom prst="roundRect">
            <a:avLst>
              <a:gd name="adj" fmla="val 17326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F1D2E6D3-D1F4-ABE9-1864-B56133D1A76A}"/>
              </a:ext>
            </a:extLst>
          </p:cNvPr>
          <p:cNvSpPr/>
          <p:nvPr/>
        </p:nvSpPr>
        <p:spPr>
          <a:xfrm>
            <a:off x="7514911" y="4726115"/>
            <a:ext cx="1245631" cy="178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B4A4A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MVP Stage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B4A3A70-36EF-5760-CE0D-E65AB7C1FC59}"/>
              </a:ext>
            </a:extLst>
          </p:cNvPr>
          <p:cNvSpPr/>
          <p:nvPr/>
        </p:nvSpPr>
        <p:spPr>
          <a:xfrm>
            <a:off x="7508516" y="5013191"/>
            <a:ext cx="2880848" cy="891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Working prototype (POC)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live demo follows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Add start-position analysis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Squat/landing risk modules</a:t>
            </a:r>
            <a:r>
              <a:rPr lang="en-US" sz="1600" dirty="0">
                <a:solidFill>
                  <a:srgbClr val="000000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7CCA8B2D-5C45-466D-3A30-CD2724AEA494}"/>
              </a:ext>
            </a:extLst>
          </p:cNvPr>
          <p:cNvSpPr/>
          <p:nvPr/>
        </p:nvSpPr>
        <p:spPr>
          <a:xfrm>
            <a:off x="316897" y="2313123"/>
            <a:ext cx="1461440" cy="41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3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Capture live video frames for processing.</a:t>
            </a:r>
            <a:endParaRPr lang="en-US" sz="13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2F88C49D-8A25-EABC-8739-59A9F97EDF3D}"/>
              </a:ext>
            </a:extLst>
          </p:cNvPr>
          <p:cNvSpPr/>
          <p:nvPr/>
        </p:nvSpPr>
        <p:spPr>
          <a:xfrm>
            <a:off x="2064076" y="276367"/>
            <a:ext cx="1461440" cy="41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3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MediaPipe detects keypoints for angle analysis.</a:t>
            </a:r>
            <a:endParaRPr lang="en-US" sz="13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292FF0DB-1319-28FE-7EDF-99F8D5249E66}"/>
              </a:ext>
            </a:extLst>
          </p:cNvPr>
          <p:cNvSpPr/>
          <p:nvPr/>
        </p:nvSpPr>
        <p:spPr>
          <a:xfrm>
            <a:off x="2648222" y="2982461"/>
            <a:ext cx="1853765" cy="41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3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On-device model computes joint angles offline.</a:t>
            </a:r>
            <a:endParaRPr lang="en-US" sz="13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474891B5-FEC5-F98D-1247-231F906EE9D6}"/>
              </a:ext>
            </a:extLst>
          </p:cNvPr>
          <p:cNvSpPr/>
          <p:nvPr/>
        </p:nvSpPr>
        <p:spPr>
          <a:xfrm>
            <a:off x="4368791" y="586999"/>
            <a:ext cx="1461440" cy="41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3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Visual/audio alerts and verified local logging.</a:t>
            </a:r>
            <a:endParaRPr lang="en-US" sz="13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1A106D77-4D57-0A3F-2617-87579BA1AEA0}"/>
              </a:ext>
            </a:extLst>
          </p:cNvPr>
          <p:cNvSpPr/>
          <p:nvPr/>
        </p:nvSpPr>
        <p:spPr>
          <a:xfrm>
            <a:off x="2410228" y="6519137"/>
            <a:ext cx="7372297" cy="2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Samsung Solve for Tomorrow 2026 | FITT, IIT Delhi | Samsung4all | Theme 3: Sport &amp; Tech</a:t>
            </a:r>
            <a:endParaRPr lang="en-US" sz="1450" b="1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AE96D5E-6C71-E294-FAC3-8B700DD260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333" t="18750" r="1" b="13632"/>
          <a:stretch>
            <a:fillRect/>
          </a:stretch>
        </p:blipFill>
        <p:spPr>
          <a:xfrm>
            <a:off x="10887573" y="5854456"/>
            <a:ext cx="1246748" cy="9448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78179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697"/>
    </mc:Choice>
    <mc:Fallback>
      <p:transition spd="slow" advTm="3269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308A7-FEAB-2949-02A8-A0E9767E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92EEFC-438B-A39E-99C8-34EF1C9D684F}"/>
              </a:ext>
            </a:extLst>
          </p:cNvPr>
          <p:cNvSpPr/>
          <p:nvPr/>
        </p:nvSpPr>
        <p:spPr>
          <a:xfrm>
            <a:off x="7129004" y="66095"/>
            <a:ext cx="3743325" cy="1477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4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 Customers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6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Who This Is For</a:t>
            </a:r>
            <a:endParaRPr lang="en-US" sz="3600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9B37061-DF27-8CF6-9A6A-F318B1C9A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36" y="4093237"/>
            <a:ext cx="498463" cy="49847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ABE855B-9984-9BFE-0E5C-B9F25BAED617}"/>
              </a:ext>
            </a:extLst>
          </p:cNvPr>
          <p:cNvSpPr/>
          <p:nvPr/>
        </p:nvSpPr>
        <p:spPr>
          <a:xfrm>
            <a:off x="1485787" y="4093237"/>
            <a:ext cx="182806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Aspiring Athletes (10–22)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BCEE8B1-04AA-AB3E-45F5-5DB98CD83B1B}"/>
              </a:ext>
            </a:extLst>
          </p:cNvPr>
          <p:cNvSpPr/>
          <p:nvPr/>
        </p:nvSpPr>
        <p:spPr>
          <a:xfrm>
            <a:off x="1485786" y="4777747"/>
            <a:ext cx="2637223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Tier 2/3 youth who lack access to professional coaching or lab feedback.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3F93B989-A872-B958-8B70-992C34E56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154" y="4093237"/>
            <a:ext cx="498463" cy="498475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3503F449-0B8D-863F-4113-2694FA4A08D3}"/>
              </a:ext>
            </a:extLst>
          </p:cNvPr>
          <p:cNvSpPr/>
          <p:nvPr/>
        </p:nvSpPr>
        <p:spPr>
          <a:xfrm>
            <a:off x="4986906" y="4093237"/>
            <a:ext cx="2233866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PE Teachers &amp; Grassroots Coaches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7B384BB-E7DC-529A-8017-F9EE52A58E9F}"/>
              </a:ext>
            </a:extLst>
          </p:cNvPr>
          <p:cNvSpPr/>
          <p:nvPr/>
        </p:nvSpPr>
        <p:spPr>
          <a:xfrm>
            <a:off x="4979066" y="4778022"/>
            <a:ext cx="2233867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Manage large groups with zero specialised equipment or biomechanics training.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C843BC75-8281-CFCC-49C3-D123BC0D8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273" y="4093237"/>
            <a:ext cx="498463" cy="498475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F70F5761-800B-3B52-4317-A6F1B33E1AC0}"/>
              </a:ext>
            </a:extLst>
          </p:cNvPr>
          <p:cNvSpPr/>
          <p:nvPr/>
        </p:nvSpPr>
        <p:spPr>
          <a:xfrm>
            <a:off x="8488024" y="4093237"/>
            <a:ext cx="182806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Talent Scouts &amp; Sports Bodies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BDB5925-6473-50F6-917F-34969530E82D}"/>
              </a:ext>
            </a:extLst>
          </p:cNvPr>
          <p:cNvSpPr/>
          <p:nvPr/>
        </p:nvSpPr>
        <p:spPr>
          <a:xfrm>
            <a:off x="8488024" y="4777747"/>
            <a:ext cx="2166414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Need objective, tamper-proof performance data vs subjective judgement.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EF7D5693-0C90-B153-4AC7-D0BB8C5B74C5}"/>
              </a:ext>
            </a:extLst>
          </p:cNvPr>
          <p:cNvSpPr/>
          <p:nvPr/>
        </p:nvSpPr>
        <p:spPr>
          <a:xfrm>
            <a:off x="2410228" y="6519137"/>
            <a:ext cx="7372297" cy="2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Samsung Solve for Tomorrow 2026 | FITT, IIT Delhi | Samsung4all | Theme 3: Sport &amp; Tech</a:t>
            </a:r>
            <a:endParaRPr lang="en-US" sz="1450" b="1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23474D95-AF87-643F-AF81-9067387744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327" r="27426"/>
          <a:stretch>
            <a:fillRect/>
          </a:stretch>
        </p:blipFill>
        <p:spPr>
          <a:xfrm>
            <a:off x="1303869" y="223681"/>
            <a:ext cx="3328493" cy="3224086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EAE12940-8B8C-BAB1-4CAF-BCEF6F65B078}"/>
              </a:ext>
            </a:extLst>
          </p:cNvPr>
          <p:cNvSpPr/>
          <p:nvPr/>
        </p:nvSpPr>
        <p:spPr>
          <a:xfrm>
            <a:off x="4616560" y="747764"/>
            <a:ext cx="1095575" cy="136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TAM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413AE774-5D49-BC1A-992A-EF45FD3BC911}"/>
              </a:ext>
            </a:extLst>
          </p:cNvPr>
          <p:cNvSpPr/>
          <p:nvPr/>
        </p:nvSpPr>
        <p:spPr>
          <a:xfrm>
            <a:off x="4662829" y="1092365"/>
            <a:ext cx="1646830" cy="87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All grassroots youth participants to verify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B5C5BF7D-1218-051D-094F-D7706CBF5259}"/>
              </a:ext>
            </a:extLst>
          </p:cNvPr>
          <p:cNvSpPr/>
          <p:nvPr/>
        </p:nvSpPr>
        <p:spPr>
          <a:xfrm>
            <a:off x="224096" y="1835724"/>
            <a:ext cx="1095575" cy="136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SAM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BA33290B-3EBF-0A07-470A-E2D8DC0F3B9B}"/>
              </a:ext>
            </a:extLst>
          </p:cNvPr>
          <p:cNvSpPr/>
          <p:nvPr/>
        </p:nvSpPr>
        <p:spPr>
          <a:xfrm>
            <a:off x="-162605" y="2243593"/>
            <a:ext cx="1648159" cy="107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Reachable schools and academies in target regions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83EF9A4-171E-89D5-CC12-76DDFB6768C1}"/>
              </a:ext>
            </a:extLst>
          </p:cNvPr>
          <p:cNvSpPr/>
          <p:nvPr/>
        </p:nvSpPr>
        <p:spPr>
          <a:xfrm>
            <a:off x="4646644" y="2421122"/>
            <a:ext cx="1095575" cy="136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SOM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E357C89A-8546-1B1D-289C-33D47300A1B0}"/>
              </a:ext>
            </a:extLst>
          </p:cNvPr>
          <p:cNvSpPr/>
          <p:nvPr/>
        </p:nvSpPr>
        <p:spPr>
          <a:xfrm>
            <a:off x="4646644" y="2772832"/>
            <a:ext cx="1207565" cy="21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Initial pilot accounts for trial schools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1A902DE-187E-4F28-1A32-E21B8576B7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333" t="18750" r="1" b="13632"/>
          <a:stretch>
            <a:fillRect/>
          </a:stretch>
        </p:blipFill>
        <p:spPr>
          <a:xfrm>
            <a:off x="10887573" y="5854456"/>
            <a:ext cx="1246748" cy="9448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1FCEA142-C6FB-A721-C800-E947F4B73D09}"/>
              </a:ext>
            </a:extLst>
          </p:cNvPr>
          <p:cNvSpPr/>
          <p:nvPr/>
        </p:nvSpPr>
        <p:spPr>
          <a:xfrm>
            <a:off x="1319671" y="24902"/>
            <a:ext cx="3743325" cy="451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Customer Segment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C726A0AE-3517-155D-9391-2F5EBAD25D7E}"/>
              </a:ext>
            </a:extLst>
          </p:cNvPr>
          <p:cNvSpPr/>
          <p:nvPr/>
        </p:nvSpPr>
        <p:spPr>
          <a:xfrm>
            <a:off x="6449784" y="1687133"/>
            <a:ext cx="533613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2000" b="1">
                <a:latin typeface="Samsung Sharp Sans"/>
              </a:rPr>
              <a:t>Current customer segment (target now) </a:t>
            </a:r>
            <a:endParaRPr lang="en-US" sz="2400" b="1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B0362E9-3436-DE63-54F3-18A8377079E7}"/>
              </a:ext>
            </a:extLst>
          </p:cNvPr>
          <p:cNvSpPr/>
          <p:nvPr/>
        </p:nvSpPr>
        <p:spPr>
          <a:xfrm>
            <a:off x="6601534" y="1969478"/>
            <a:ext cx="5597334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500" dirty="0">
                <a:latin typeface="Samsung Sharp Sans"/>
              </a:rPr>
              <a:t>Individual grassroots athletes and their local coaches/PE teachers </a:t>
            </a:r>
          </a:p>
          <a:p>
            <a:pPr>
              <a:lnSpc>
                <a:spcPct val="127000"/>
              </a:lnSpc>
            </a:pPr>
            <a:r>
              <a:rPr lang="en-US" sz="1500" dirty="0">
                <a:latin typeface="Samsung Sharp Sans"/>
              </a:rPr>
              <a:t>in Tier 2/3 cities and rural India</a:t>
            </a:r>
            <a:endParaRPr lang="en-US" sz="15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E02E8CD-663F-77DD-9738-7EEEE8AAE5EC}"/>
              </a:ext>
            </a:extLst>
          </p:cNvPr>
          <p:cNvSpPr/>
          <p:nvPr/>
        </p:nvSpPr>
        <p:spPr>
          <a:xfrm>
            <a:off x="6449783" y="2793348"/>
            <a:ext cx="4331093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b="1" dirty="0">
                <a:latin typeface="Samsung Sharp Sans"/>
              </a:rPr>
              <a:t>Future customer segment (where this grows)</a:t>
            </a:r>
            <a:endParaRPr lang="en-US" sz="2000" b="1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2B1700FD-EABE-A160-02F3-316FA20FBADE}"/>
              </a:ext>
            </a:extLst>
          </p:cNvPr>
          <p:cNvSpPr/>
          <p:nvPr/>
        </p:nvSpPr>
        <p:spPr>
          <a:xfrm>
            <a:off x="6601534" y="3101782"/>
            <a:ext cx="5597334" cy="67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500" dirty="0">
                <a:latin typeface="Samsung Sharp Sans"/>
              </a:rPr>
              <a:t>State-level and private sports academies and sports federations</a:t>
            </a:r>
          </a:p>
          <a:p>
            <a:pPr>
              <a:lnSpc>
                <a:spcPct val="127000"/>
              </a:lnSpc>
            </a:pPr>
            <a:r>
              <a:rPr lang="en-US" sz="1500" dirty="0">
                <a:latin typeface="Samsung Sharp Sans"/>
              </a:rPr>
              <a:t> (as a paid B2B customer, via the scouting/analytics dashboard</a:t>
            </a:r>
            <a:endParaRPr lang="en-US" sz="1500" dirty="0">
              <a:latin typeface="Samsung Sharp San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710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373"/>
    </mc:Choice>
    <mc:Fallback>
      <p:transition spd="slow" advTm="2837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0A0D0-FD24-C57A-9C7D-6C94C1FB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1F83B5-EAA2-B930-2CCD-4EDDB919B8A2}"/>
              </a:ext>
            </a:extLst>
          </p:cNvPr>
          <p:cNvSpPr/>
          <p:nvPr/>
        </p:nvSpPr>
        <p:spPr>
          <a:xfrm>
            <a:off x="5015538" y="179883"/>
            <a:ext cx="6983238" cy="1053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5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Competition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5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Why DrishtiSport AI Wins on the Ground</a:t>
            </a:r>
            <a:endParaRPr lang="en-US" sz="25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ECC232-D6D9-558D-6741-DD1D724FD37E}"/>
              </a:ext>
            </a:extLst>
          </p:cNvPr>
          <p:cNvSpPr/>
          <p:nvPr/>
        </p:nvSpPr>
        <p:spPr>
          <a:xfrm>
            <a:off x="569059" y="870700"/>
            <a:ext cx="4504069" cy="4962922"/>
          </a:xfrm>
          <a:prstGeom prst="roundRect">
            <a:avLst>
              <a:gd name="adj" fmla="val 329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C33EE4-C2A4-1C5C-0B2B-0169E334253D}"/>
              </a:ext>
            </a:extLst>
          </p:cNvPr>
          <p:cNvSpPr/>
          <p:nvPr/>
        </p:nvSpPr>
        <p:spPr>
          <a:xfrm>
            <a:off x="569060" y="1654772"/>
            <a:ext cx="4344612" cy="45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C32C07A-563D-3E74-2855-A4F8120D8E71}"/>
              </a:ext>
            </a:extLst>
          </p:cNvPr>
          <p:cNvSpPr/>
          <p:nvPr/>
        </p:nvSpPr>
        <p:spPr>
          <a:xfrm>
            <a:off x="569059" y="2290520"/>
            <a:ext cx="4424642" cy="45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9B5CF7-90BA-37A4-87B6-C903CAEC5AEA}"/>
              </a:ext>
            </a:extLst>
          </p:cNvPr>
          <p:cNvSpPr/>
          <p:nvPr/>
        </p:nvSpPr>
        <p:spPr>
          <a:xfrm>
            <a:off x="569059" y="3543058"/>
            <a:ext cx="4424642" cy="5566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A831F3A-F18E-90B7-0F26-A68CC3A09234}"/>
              </a:ext>
            </a:extLst>
          </p:cNvPr>
          <p:cNvSpPr/>
          <p:nvPr/>
        </p:nvSpPr>
        <p:spPr>
          <a:xfrm>
            <a:off x="569059" y="4535499"/>
            <a:ext cx="4126107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73DD192-CC23-94D8-7042-8FC7969DC074}"/>
              </a:ext>
            </a:extLst>
          </p:cNvPr>
          <p:cNvSpPr/>
          <p:nvPr/>
        </p:nvSpPr>
        <p:spPr>
          <a:xfrm>
            <a:off x="1812833" y="891485"/>
            <a:ext cx="9451" cy="49629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A2157C5-50C6-757B-20A3-2615E1C9FCEB}"/>
              </a:ext>
            </a:extLst>
          </p:cNvPr>
          <p:cNvSpPr/>
          <p:nvPr/>
        </p:nvSpPr>
        <p:spPr>
          <a:xfrm>
            <a:off x="2629844" y="1310374"/>
            <a:ext cx="9451" cy="49629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6DAE85F-9F01-1FC7-A023-42DC99A4E6E5}"/>
              </a:ext>
            </a:extLst>
          </p:cNvPr>
          <p:cNvSpPr/>
          <p:nvPr/>
        </p:nvSpPr>
        <p:spPr>
          <a:xfrm>
            <a:off x="3484170" y="870700"/>
            <a:ext cx="9451" cy="49629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F55B7CE-2943-AB04-46A9-09110CC2E590}"/>
              </a:ext>
            </a:extLst>
          </p:cNvPr>
          <p:cNvSpPr/>
          <p:nvPr/>
        </p:nvSpPr>
        <p:spPr>
          <a:xfrm>
            <a:off x="4163672" y="912269"/>
            <a:ext cx="9451" cy="49629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1B8ADEB-B1E4-D990-8E19-52C56CB9C331}"/>
              </a:ext>
            </a:extLst>
          </p:cNvPr>
          <p:cNvSpPr/>
          <p:nvPr/>
        </p:nvSpPr>
        <p:spPr>
          <a:xfrm>
            <a:off x="575706" y="861810"/>
            <a:ext cx="1338994" cy="813991"/>
          </a:xfrm>
          <a:custGeom>
            <a:avLst/>
            <a:gdLst/>
            <a:ahLst/>
            <a:cxnLst/>
            <a:rect l="l" t="t" r="r" b="b"/>
            <a:pathLst>
              <a:path w="1233953" h="813991">
                <a:moveTo>
                  <a:pt x="113411" y="0"/>
                </a:moveTo>
                <a:lnTo>
                  <a:pt x="1233953" y="0"/>
                </a:lnTo>
                <a:lnTo>
                  <a:pt x="1233953" y="813991"/>
                </a:lnTo>
                <a:lnTo>
                  <a:pt x="0" y="813991"/>
                </a:lnTo>
                <a:lnTo>
                  <a:pt x="0" y="113414"/>
                </a:lnTo>
                <a:arcTo wR="113411" hR="113414" stAng="10800000" swAng="5400000"/>
                <a:close/>
              </a:path>
            </a:pathLst>
          </a:custGeom>
          <a:solidFill>
            <a:srgbClr val="FF5A36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1D68338-31FE-2A67-FFAD-8B97CF5B09BA}"/>
              </a:ext>
            </a:extLst>
          </p:cNvPr>
          <p:cNvSpPr/>
          <p:nvPr/>
        </p:nvSpPr>
        <p:spPr>
          <a:xfrm>
            <a:off x="719219" y="1080756"/>
            <a:ext cx="1011599" cy="191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latin typeface="Samsung Sharp Sans"/>
                <a:ea typeface="Geist Bold" pitchFamily="34" charset="-122"/>
                <a:cs typeface="Times New Roman" panose="02020603050405020304" pitchFamily="18" charset="0"/>
              </a:rPr>
              <a:t>Product</a:t>
            </a:r>
            <a:endParaRPr lang="en-US" sz="15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C3F180F-1EF3-6BC8-858D-72DCDB0D639D}"/>
              </a:ext>
            </a:extLst>
          </p:cNvPr>
          <p:cNvSpPr/>
          <p:nvPr/>
        </p:nvSpPr>
        <p:spPr>
          <a:xfrm>
            <a:off x="1873905" y="861810"/>
            <a:ext cx="854505" cy="813991"/>
          </a:xfrm>
          <a:prstGeom prst="rect">
            <a:avLst/>
          </a:prstGeom>
          <a:solidFill>
            <a:srgbClr val="FF5A36"/>
          </a:solidFill>
          <a:ln/>
        </p:spPr>
        <p:txBody>
          <a:bodyPr/>
          <a:lstStyle/>
          <a:p>
            <a:endParaRPr lang="en-IN" dirty="0">
              <a:latin typeface="Samsung Sharp San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BECACAF-1EAA-E72D-685C-1DB9368E8752}"/>
              </a:ext>
            </a:extLst>
          </p:cNvPr>
          <p:cNvSpPr/>
          <p:nvPr/>
        </p:nvSpPr>
        <p:spPr>
          <a:xfrm>
            <a:off x="1956346" y="1050675"/>
            <a:ext cx="466245" cy="43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latin typeface="Samsung Sharp Sans"/>
                <a:ea typeface="Geist Bold" pitchFamily="34" charset="-122"/>
                <a:cs typeface="Times New Roman" panose="02020603050405020304" pitchFamily="18" charset="0"/>
              </a:rPr>
              <a:t>Cost</a:t>
            </a:r>
            <a:endParaRPr lang="en-US" sz="15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E25F561-9DDE-ECBF-8744-C6005D777AE3}"/>
              </a:ext>
            </a:extLst>
          </p:cNvPr>
          <p:cNvSpPr/>
          <p:nvPr/>
        </p:nvSpPr>
        <p:spPr>
          <a:xfrm>
            <a:off x="2676296" y="860961"/>
            <a:ext cx="830734" cy="813991"/>
          </a:xfrm>
          <a:prstGeom prst="rect">
            <a:avLst/>
          </a:prstGeom>
          <a:solidFill>
            <a:srgbClr val="FF5A36"/>
          </a:solidFill>
          <a:ln/>
        </p:spPr>
        <p:txBody>
          <a:bodyPr/>
          <a:lstStyle/>
          <a:p>
            <a:endParaRPr lang="en-IN" dirty="0">
              <a:latin typeface="Samsung Sharp San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55DE85F-F984-D557-73E3-58106428BDCA}"/>
              </a:ext>
            </a:extLst>
          </p:cNvPr>
          <p:cNvSpPr/>
          <p:nvPr/>
        </p:nvSpPr>
        <p:spPr>
          <a:xfrm>
            <a:off x="2687892" y="1068329"/>
            <a:ext cx="855328" cy="43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latin typeface="Samsung Sharp Sans"/>
                <a:ea typeface="Geist Bold" pitchFamily="34" charset="-122"/>
                <a:cs typeface="Times New Roman" panose="02020603050405020304" pitchFamily="18" charset="0"/>
              </a:rPr>
              <a:t>Hardware</a:t>
            </a:r>
            <a:endParaRPr lang="en-US" sz="15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BE269E2-4307-F61B-B7D5-12453181F73A}"/>
              </a:ext>
            </a:extLst>
          </p:cNvPr>
          <p:cNvSpPr/>
          <p:nvPr/>
        </p:nvSpPr>
        <p:spPr>
          <a:xfrm>
            <a:off x="3507721" y="861656"/>
            <a:ext cx="665401" cy="813991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30C31DE-0FAE-FBB2-0996-F99800181855}"/>
              </a:ext>
            </a:extLst>
          </p:cNvPr>
          <p:cNvSpPr/>
          <p:nvPr/>
        </p:nvSpPr>
        <p:spPr>
          <a:xfrm>
            <a:off x="3547418" y="1050675"/>
            <a:ext cx="753406" cy="43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latin typeface="Samsung Sharp Sans"/>
                <a:ea typeface="Geist Bold" pitchFamily="34" charset="-122"/>
                <a:cs typeface="Times New Roman" panose="02020603050405020304" pitchFamily="18" charset="0"/>
              </a:rPr>
              <a:t>Offline</a:t>
            </a:r>
            <a:endParaRPr lang="en-US" sz="15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3198B70-53BF-B636-84A2-7D854A6326BF}"/>
              </a:ext>
            </a:extLst>
          </p:cNvPr>
          <p:cNvSpPr/>
          <p:nvPr/>
        </p:nvSpPr>
        <p:spPr>
          <a:xfrm>
            <a:off x="4163672" y="861810"/>
            <a:ext cx="913654" cy="813991"/>
          </a:xfrm>
          <a:custGeom>
            <a:avLst/>
            <a:gdLst/>
            <a:ahLst/>
            <a:cxnLst/>
            <a:rect l="l" t="t" r="r" b="b"/>
            <a:pathLst>
              <a:path w="822602" h="813991">
                <a:moveTo>
                  <a:pt x="0" y="0"/>
                </a:moveTo>
                <a:lnTo>
                  <a:pt x="709191" y="0"/>
                </a:lnTo>
                <a:arcTo wR="113411" hR="113414" stAng="16200000" swAng="5400000"/>
                <a:lnTo>
                  <a:pt x="822602" y="813991"/>
                </a:lnTo>
                <a:lnTo>
                  <a:pt x="0" y="813991"/>
                </a:lnTo>
                <a:lnTo>
                  <a:pt x="0" y="0"/>
                </a:lnTo>
                <a:close/>
              </a:path>
            </a:pathLst>
          </a:custGeom>
          <a:solidFill>
            <a:srgbClr val="FF5A36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AB049A3-F639-91E1-2E29-6E335ED746AC}"/>
              </a:ext>
            </a:extLst>
          </p:cNvPr>
          <p:cNvSpPr/>
          <p:nvPr/>
        </p:nvSpPr>
        <p:spPr>
          <a:xfrm>
            <a:off x="4215821" y="1055938"/>
            <a:ext cx="857307" cy="398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latin typeface="Samsung Sharp Sans"/>
                <a:ea typeface="Geist Bold" pitchFamily="34" charset="-122"/>
                <a:cs typeface="Times New Roman" panose="02020603050405020304" pitchFamily="18" charset="0"/>
              </a:rPr>
              <a:t>Rule Accuracy</a:t>
            </a:r>
            <a:endParaRPr lang="en-US" sz="15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DC9D520-4120-21CD-92D5-6DA5F94767CE}"/>
              </a:ext>
            </a:extLst>
          </p:cNvPr>
          <p:cNvSpPr/>
          <p:nvPr/>
        </p:nvSpPr>
        <p:spPr>
          <a:xfrm>
            <a:off x="726912" y="1716938"/>
            <a:ext cx="1634068" cy="49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Elite motion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capture labs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C61198C-196A-380A-BB9C-B275491A3C10}"/>
              </a:ext>
            </a:extLst>
          </p:cNvPr>
          <p:cNvSpPr/>
          <p:nvPr/>
        </p:nvSpPr>
        <p:spPr>
          <a:xfrm>
            <a:off x="1964039" y="1716938"/>
            <a:ext cx="470119" cy="49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High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CEA1BAB-6B14-3D09-6238-630D7F5CD201}"/>
              </a:ext>
            </a:extLst>
          </p:cNvPr>
          <p:cNvSpPr/>
          <p:nvPr/>
        </p:nvSpPr>
        <p:spPr>
          <a:xfrm>
            <a:off x="2718814" y="1725356"/>
            <a:ext cx="759666" cy="49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Extensive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E02B452-0BD0-0C10-FBF7-B6AF6B6288DA}"/>
              </a:ext>
            </a:extLst>
          </p:cNvPr>
          <p:cNvSpPr/>
          <p:nvPr/>
        </p:nvSpPr>
        <p:spPr>
          <a:xfrm>
            <a:off x="3622324" y="1729914"/>
            <a:ext cx="330528" cy="27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No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F73EE9E-00AC-E290-BD03-E0BBA4D6161A}"/>
              </a:ext>
            </a:extLst>
          </p:cNvPr>
          <p:cNvSpPr/>
          <p:nvPr/>
        </p:nvSpPr>
        <p:spPr>
          <a:xfrm>
            <a:off x="4236158" y="1738157"/>
            <a:ext cx="592916" cy="245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High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1114029-36EA-1BB8-BAE2-7C5519D34555}"/>
              </a:ext>
            </a:extLst>
          </p:cNvPr>
          <p:cNvSpPr/>
          <p:nvPr/>
        </p:nvSpPr>
        <p:spPr>
          <a:xfrm>
            <a:off x="726912" y="2372574"/>
            <a:ext cx="92836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Wearable sensor kits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2DBB88D-DB0A-98F9-FC2D-D41B820FC9DC}"/>
              </a:ext>
            </a:extLst>
          </p:cNvPr>
          <p:cNvSpPr/>
          <p:nvPr/>
        </p:nvSpPr>
        <p:spPr>
          <a:xfrm>
            <a:off x="1877993" y="2362625"/>
            <a:ext cx="782582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Medium–High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7070070-4C89-DD2F-770A-2436B4D2C8E5}"/>
              </a:ext>
            </a:extLst>
          </p:cNvPr>
          <p:cNvSpPr/>
          <p:nvPr/>
        </p:nvSpPr>
        <p:spPr>
          <a:xfrm>
            <a:off x="2684804" y="2380053"/>
            <a:ext cx="793676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Per-athlete</a:t>
            </a:r>
            <a:endParaRPr lang="en-US" sz="13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2697C88-1DB0-BFCF-9898-1DE1230A0E3B}"/>
              </a:ext>
            </a:extLst>
          </p:cNvPr>
          <p:cNvSpPr/>
          <p:nvPr/>
        </p:nvSpPr>
        <p:spPr>
          <a:xfrm>
            <a:off x="3531703" y="2372574"/>
            <a:ext cx="64142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Partial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541355F-0123-3068-0547-93861315E785}"/>
              </a:ext>
            </a:extLst>
          </p:cNvPr>
          <p:cNvSpPr/>
          <p:nvPr/>
        </p:nvSpPr>
        <p:spPr>
          <a:xfrm>
            <a:off x="4213624" y="2372574"/>
            <a:ext cx="70004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Variable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72FDE73-34CC-0DE0-5211-BA79DFFE92CE}"/>
              </a:ext>
            </a:extLst>
          </p:cNvPr>
          <p:cNvSpPr/>
          <p:nvPr/>
        </p:nvSpPr>
        <p:spPr>
          <a:xfrm>
            <a:off x="726912" y="3625111"/>
            <a:ext cx="928367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Generic fitness-form apps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233C348-9D7D-A3EB-7AAF-9B2B83A9CC44}"/>
              </a:ext>
            </a:extLst>
          </p:cNvPr>
          <p:cNvSpPr/>
          <p:nvPr/>
        </p:nvSpPr>
        <p:spPr>
          <a:xfrm>
            <a:off x="1964040" y="3625111"/>
            <a:ext cx="64345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Low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FB5D1FF-0672-F48F-297F-8AAECF81142E}"/>
              </a:ext>
            </a:extLst>
          </p:cNvPr>
          <p:cNvSpPr/>
          <p:nvPr/>
        </p:nvSpPr>
        <p:spPr>
          <a:xfrm>
            <a:off x="2783731" y="3625111"/>
            <a:ext cx="104117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None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90A6401-639B-879F-5710-016BC997A7B1}"/>
              </a:ext>
            </a:extLst>
          </p:cNvPr>
          <p:cNvSpPr/>
          <p:nvPr/>
        </p:nvSpPr>
        <p:spPr>
          <a:xfrm>
            <a:off x="3585043" y="3625111"/>
            <a:ext cx="104117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Yes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91724D8-B983-5B70-6F43-1F8CC9B2C743}"/>
              </a:ext>
            </a:extLst>
          </p:cNvPr>
          <p:cNvSpPr/>
          <p:nvPr/>
        </p:nvSpPr>
        <p:spPr>
          <a:xfrm>
            <a:off x="4249193" y="3625111"/>
            <a:ext cx="74450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Low (vague)</a:t>
            </a:r>
            <a:endParaRPr lang="en-US" sz="14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7A3E1DFA-B2AE-0EF1-1C17-A7E4C3912A1A}"/>
              </a:ext>
            </a:extLst>
          </p:cNvPr>
          <p:cNvSpPr/>
          <p:nvPr/>
        </p:nvSpPr>
        <p:spPr>
          <a:xfrm>
            <a:off x="575707" y="4553839"/>
            <a:ext cx="1235464" cy="1273431"/>
          </a:xfrm>
          <a:custGeom>
            <a:avLst/>
            <a:gdLst/>
            <a:ahLst/>
            <a:cxnLst/>
            <a:rect l="l" t="t" r="r" b="b"/>
            <a:pathLst>
              <a:path w="1233953" h="1467048">
                <a:moveTo>
                  <a:pt x="0" y="0"/>
                </a:moveTo>
                <a:lnTo>
                  <a:pt x="1233953" y="0"/>
                </a:lnTo>
                <a:lnTo>
                  <a:pt x="1233953" y="1467048"/>
                </a:lnTo>
                <a:lnTo>
                  <a:pt x="113411" y="1467048"/>
                </a:lnTo>
                <a:arcTo wR="113411" hR="113414" stAng="5400000" swAng="5400000"/>
                <a:lnTo>
                  <a:pt x="0" y="0"/>
                </a:lnTo>
                <a:close/>
              </a:path>
            </a:pathLst>
          </a:custGeom>
          <a:solidFill>
            <a:srgbClr val="E5F9F2"/>
          </a:solidFill>
          <a:ln/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E5AFCA1-3376-A3A6-96C9-79A1508C003A}"/>
              </a:ext>
            </a:extLst>
          </p:cNvPr>
          <p:cNvSpPr/>
          <p:nvPr/>
        </p:nvSpPr>
        <p:spPr>
          <a:xfrm>
            <a:off x="592788" y="4610285"/>
            <a:ext cx="127056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Samsung Sharp Sans"/>
                <a:ea typeface="Geist Bold" pitchFamily="34" charset="-122"/>
                <a:cs typeface="Times New Roman" panose="02020603050405020304" pitchFamily="18" charset="0"/>
              </a:rPr>
              <a:t>DrishtiSport AI</a:t>
            </a:r>
            <a:endParaRPr lang="en-US" sz="14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07E3C6E2-2602-22FD-2B7D-ED7744607194}"/>
              </a:ext>
            </a:extLst>
          </p:cNvPr>
          <p:cNvSpPr/>
          <p:nvPr/>
        </p:nvSpPr>
        <p:spPr>
          <a:xfrm>
            <a:off x="1833511" y="4544951"/>
            <a:ext cx="811125" cy="1282320"/>
          </a:xfrm>
          <a:prstGeom prst="rect">
            <a:avLst/>
          </a:prstGeom>
          <a:solidFill>
            <a:srgbClr val="E5F9F2"/>
          </a:solidFill>
          <a:ln/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C9B04CB-3F61-23C9-66D5-2F5B5C71C849}"/>
              </a:ext>
            </a:extLst>
          </p:cNvPr>
          <p:cNvSpPr/>
          <p:nvPr/>
        </p:nvSpPr>
        <p:spPr>
          <a:xfrm>
            <a:off x="1964039" y="4617553"/>
            <a:ext cx="751649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Samsung Sharp Sans"/>
                <a:ea typeface="Geist Bold" pitchFamily="34" charset="-122"/>
                <a:cs typeface="Times New Roman" panose="02020603050405020304" pitchFamily="18" charset="0"/>
              </a:rPr>
              <a:t>Free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Samsung Sharp Sans"/>
                <a:ea typeface="Geist Bold" pitchFamily="34" charset="-122"/>
                <a:cs typeface="Times New Roman" panose="02020603050405020304" pitchFamily="18" charset="0"/>
              </a:rPr>
              <a:t> / Low</a:t>
            </a:r>
            <a:endParaRPr lang="en-US" sz="14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85F5C51-C14E-E28D-1C3D-0526A9666220}"/>
              </a:ext>
            </a:extLst>
          </p:cNvPr>
          <p:cNvSpPr/>
          <p:nvPr/>
        </p:nvSpPr>
        <p:spPr>
          <a:xfrm>
            <a:off x="2676296" y="4543804"/>
            <a:ext cx="804775" cy="1282320"/>
          </a:xfrm>
          <a:prstGeom prst="rect">
            <a:avLst/>
          </a:prstGeom>
          <a:solidFill>
            <a:srgbClr val="E5F9F2"/>
          </a:solidFill>
          <a:ln/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0180465-EEA2-78BA-218A-13554059E7E9}"/>
              </a:ext>
            </a:extLst>
          </p:cNvPr>
          <p:cNvSpPr/>
          <p:nvPr/>
        </p:nvSpPr>
        <p:spPr>
          <a:xfrm>
            <a:off x="2775379" y="4571336"/>
            <a:ext cx="590835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Samsung Sharp Sans"/>
                <a:ea typeface="Geist Bold" pitchFamily="34" charset="-122"/>
                <a:cs typeface="Times New Roman" panose="02020603050405020304" pitchFamily="18" charset="0"/>
              </a:rPr>
              <a:t>Phone only</a:t>
            </a:r>
            <a:endParaRPr lang="en-US" sz="14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2B7CB00-B0A3-0D65-DA73-40828FF44A86}"/>
              </a:ext>
            </a:extLst>
          </p:cNvPr>
          <p:cNvSpPr/>
          <p:nvPr/>
        </p:nvSpPr>
        <p:spPr>
          <a:xfrm>
            <a:off x="3510716" y="4543804"/>
            <a:ext cx="647646" cy="1283467"/>
          </a:xfrm>
          <a:prstGeom prst="rect">
            <a:avLst/>
          </a:prstGeom>
          <a:solidFill>
            <a:srgbClr val="E5F9F2"/>
          </a:solidFill>
          <a:ln/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A340474-595E-4332-F740-63DF99AC6F3E}"/>
              </a:ext>
            </a:extLst>
          </p:cNvPr>
          <p:cNvSpPr/>
          <p:nvPr/>
        </p:nvSpPr>
        <p:spPr>
          <a:xfrm>
            <a:off x="3546943" y="4617553"/>
            <a:ext cx="620870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Samsung Sharp Sans"/>
                <a:ea typeface="Geist Bold" pitchFamily="34" charset="-122"/>
                <a:cs typeface="Times New Roman" panose="02020603050405020304" pitchFamily="18" charset="0"/>
              </a:rPr>
              <a:t>Yes  100% offline</a:t>
            </a:r>
            <a:endParaRPr lang="en-US" sz="14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08CF660-01CB-FD99-340B-EE05DA8E5DB0}"/>
              </a:ext>
            </a:extLst>
          </p:cNvPr>
          <p:cNvSpPr/>
          <p:nvPr/>
        </p:nvSpPr>
        <p:spPr>
          <a:xfrm>
            <a:off x="4175457" y="4544007"/>
            <a:ext cx="818243" cy="1288673"/>
          </a:xfrm>
          <a:custGeom>
            <a:avLst/>
            <a:gdLst/>
            <a:ahLst/>
            <a:cxnLst/>
            <a:rect l="l" t="t" r="r" b="b"/>
            <a:pathLst>
              <a:path w="822602" h="1467048">
                <a:moveTo>
                  <a:pt x="0" y="0"/>
                </a:moveTo>
                <a:lnTo>
                  <a:pt x="822602" y="0"/>
                </a:lnTo>
                <a:lnTo>
                  <a:pt x="822602" y="1353634"/>
                </a:lnTo>
                <a:arcTo wR="113411" hR="113414" stAng="0" swAng="5400000"/>
                <a:lnTo>
                  <a:pt x="0" y="1467048"/>
                </a:lnTo>
                <a:lnTo>
                  <a:pt x="0" y="0"/>
                </a:lnTo>
                <a:close/>
              </a:path>
            </a:pathLst>
          </a:custGeom>
          <a:solidFill>
            <a:srgbClr val="E5F9F2"/>
          </a:solidFill>
          <a:ln/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C90644F-EB21-DA27-7D45-D6F21E0CC573}"/>
              </a:ext>
            </a:extLst>
          </p:cNvPr>
          <p:cNvSpPr/>
          <p:nvPr/>
        </p:nvSpPr>
        <p:spPr>
          <a:xfrm>
            <a:off x="4249194" y="4625173"/>
            <a:ext cx="673928" cy="928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Samsung Sharp Sans"/>
                <a:ea typeface="Geist Bold" pitchFamily="34" charset="-122"/>
                <a:cs typeface="Times New Roman" panose="02020603050405020304" pitchFamily="18" charset="0"/>
              </a:rPr>
              <a:t>Rule-specific, tamper-proof</a:t>
            </a:r>
            <a:endParaRPr lang="en-US" sz="14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C78A7F67-B76C-2D23-56E1-1F1D2A94A55E}"/>
              </a:ext>
            </a:extLst>
          </p:cNvPr>
          <p:cNvSpPr/>
          <p:nvPr/>
        </p:nvSpPr>
        <p:spPr>
          <a:xfrm>
            <a:off x="5297264" y="1407212"/>
            <a:ext cx="2500877" cy="347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Unique Value Proposition</a:t>
            </a:r>
            <a:r>
              <a:rPr lang="en-US" sz="22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 --- Why the moat holds:</a:t>
            </a:r>
            <a:endParaRPr lang="en-US" sz="28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97B444CC-1364-3F73-14A5-B3A1A9A0235C}"/>
              </a:ext>
            </a:extLst>
          </p:cNvPr>
          <p:cNvSpPr/>
          <p:nvPr/>
        </p:nvSpPr>
        <p:spPr>
          <a:xfrm>
            <a:off x="5297264" y="1863827"/>
            <a:ext cx="6373653" cy="2236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Zero extra hardware - scales to whole academies with one shared phone.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Sport-specific, rule-grounded thresholds (e.g., ICC Law 24.3) - not vague scores.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Tamper-proof verified performance logs target scouting bias and corruption.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C0168297-3596-0D0D-676A-1BCAC9376AF1}"/>
              </a:ext>
            </a:extLst>
          </p:cNvPr>
          <p:cNvSpPr/>
          <p:nvPr/>
        </p:nvSpPr>
        <p:spPr>
          <a:xfrm>
            <a:off x="5297264" y="4344846"/>
            <a:ext cx="6373653" cy="965133"/>
          </a:xfrm>
          <a:prstGeom prst="roundRect">
            <a:avLst>
              <a:gd name="adj" fmla="val 18677"/>
            </a:avLst>
          </a:prstGeom>
          <a:solidFill>
            <a:srgbClr val="CCFFEF"/>
          </a:solidFill>
          <a:ln/>
        </p:spPr>
      </p:sp>
      <p:pic>
        <p:nvPicPr>
          <p:cNvPr id="50" name="Image 0" descr="preencoded.png">
            <a:extLst>
              <a:ext uri="{FF2B5EF4-FFF2-40B4-BE49-F238E27FC236}">
                <a16:creationId xmlns:a16="http://schemas.microsoft.com/office/drawing/2014/main" id="{34F2034B-41A7-AACD-9EDA-AD943EC54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469" y="4560250"/>
            <a:ext cx="189007" cy="151209"/>
          </a:xfrm>
          <a:prstGeom prst="rect">
            <a:avLst/>
          </a:prstGeom>
        </p:spPr>
      </p:pic>
      <p:sp>
        <p:nvSpPr>
          <p:cNvPr id="51" name="Text 48">
            <a:extLst>
              <a:ext uri="{FF2B5EF4-FFF2-40B4-BE49-F238E27FC236}">
                <a16:creationId xmlns:a16="http://schemas.microsoft.com/office/drawing/2014/main" id="{3F3F9559-3890-BCAF-6F00-02A2ACF95521}"/>
              </a:ext>
            </a:extLst>
          </p:cNvPr>
          <p:cNvSpPr/>
          <p:nvPr/>
        </p:nvSpPr>
        <p:spPr>
          <a:xfrm>
            <a:off x="5788682" y="4491491"/>
            <a:ext cx="573102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The "Anti-Bias Verification" capability is unique - a clear differentiator judges can evaluate.</a:t>
            </a:r>
            <a:endParaRPr lang="en-US" sz="20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52" name="Text 1">
            <a:extLst>
              <a:ext uri="{FF2B5EF4-FFF2-40B4-BE49-F238E27FC236}">
                <a16:creationId xmlns:a16="http://schemas.microsoft.com/office/drawing/2014/main" id="{05ABD0E3-B98F-7397-437B-1CF1B59F4D5A}"/>
              </a:ext>
            </a:extLst>
          </p:cNvPr>
          <p:cNvSpPr/>
          <p:nvPr/>
        </p:nvSpPr>
        <p:spPr>
          <a:xfrm>
            <a:off x="2410228" y="6519137"/>
            <a:ext cx="7372297" cy="2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Samsung Solve for Tomorrow 2026 | FITT, IIT Delhi | Samsung4all | Theme 3: Sport &amp; Tech</a:t>
            </a:r>
            <a:endParaRPr lang="en-US" sz="1450" b="1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E1E9760-AAA6-5FBE-351D-7C22C0DF4A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33" t="18750" r="1" b="13632"/>
          <a:stretch>
            <a:fillRect/>
          </a:stretch>
        </p:blipFill>
        <p:spPr>
          <a:xfrm>
            <a:off x="10887573" y="5854456"/>
            <a:ext cx="1246748" cy="9448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00450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699"/>
    </mc:Choice>
    <mc:Fallback>
      <p:transition spd="slow" advTm="3569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8EF04-5C4D-76E0-1E8B-7BA0CB7FB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C40C58-8A48-E672-6B90-8CDC7608B455}"/>
              </a:ext>
            </a:extLst>
          </p:cNvPr>
          <p:cNvSpPr/>
          <p:nvPr/>
        </p:nvSpPr>
        <p:spPr>
          <a:xfrm>
            <a:off x="7018509" y="239614"/>
            <a:ext cx="2763249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Impact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5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Beyond the App</a:t>
            </a:r>
            <a:endParaRPr lang="en-US" sz="25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D7DA9D-320F-BAB3-5C1F-9E84A614333E}"/>
              </a:ext>
            </a:extLst>
          </p:cNvPr>
          <p:cNvSpPr/>
          <p:nvPr/>
        </p:nvSpPr>
        <p:spPr>
          <a:xfrm>
            <a:off x="6086322" y="270173"/>
            <a:ext cx="45719" cy="5056486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E226F1-3DBB-89DD-B21B-230E824EE075}"/>
              </a:ext>
            </a:extLst>
          </p:cNvPr>
          <p:cNvSpPr/>
          <p:nvPr/>
        </p:nvSpPr>
        <p:spPr>
          <a:xfrm>
            <a:off x="642425" y="270172"/>
            <a:ext cx="5434373" cy="1190725"/>
          </a:xfrm>
          <a:custGeom>
            <a:avLst/>
            <a:gdLst/>
            <a:ahLst/>
            <a:cxnLst/>
            <a:rect l="l" t="t" r="r" b="b"/>
            <a:pathLst>
              <a:path w="5434373" h="978098">
                <a:moveTo>
                  <a:pt x="106323" y="0"/>
                </a:moveTo>
                <a:lnTo>
                  <a:pt x="5434373" y="0"/>
                </a:lnTo>
                <a:lnTo>
                  <a:pt x="5434373" y="978098"/>
                </a:lnTo>
                <a:lnTo>
                  <a:pt x="106323" y="978098"/>
                </a:lnTo>
                <a:arcTo wR="106323" hR="106326" stAng="5400000" swAng="5400000"/>
                <a:lnTo>
                  <a:pt x="0" y="106326"/>
                </a:lnTo>
                <a:arcTo wR="106323" hR="106326" stAng="10800000" swAng="5400000"/>
                <a:close/>
              </a:path>
            </a:pathLst>
          </a:cu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6A85AE-A6FA-80E7-F65A-DE0214E79617}"/>
              </a:ext>
            </a:extLst>
          </p:cNvPr>
          <p:cNvSpPr/>
          <p:nvPr/>
        </p:nvSpPr>
        <p:spPr>
          <a:xfrm>
            <a:off x="790456" y="418208"/>
            <a:ext cx="51446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3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Injury Prevention</a:t>
            </a:r>
            <a:endParaRPr lang="en-US" sz="23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17732F-C998-2AA2-2516-48D9C6E06904}"/>
              </a:ext>
            </a:extLst>
          </p:cNvPr>
          <p:cNvSpPr/>
          <p:nvPr/>
        </p:nvSpPr>
        <p:spPr>
          <a:xfrm>
            <a:off x="790456" y="703362"/>
            <a:ext cx="514466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Catch unsafe or illegal technique before it causes long-term joint damage or forced early retirement.</a:t>
            </a:r>
            <a:endParaRPr lang="en-US" sz="20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69C46B5-3365-7EC5-735C-127F01427DF6}"/>
              </a:ext>
            </a:extLst>
          </p:cNvPr>
          <p:cNvSpPr/>
          <p:nvPr/>
        </p:nvSpPr>
        <p:spPr>
          <a:xfrm>
            <a:off x="6114897" y="1460897"/>
            <a:ext cx="5434373" cy="1451569"/>
          </a:xfrm>
          <a:custGeom>
            <a:avLst/>
            <a:gdLst/>
            <a:ahLst/>
            <a:cxnLst/>
            <a:rect l="l" t="t" r="r" b="b"/>
            <a:pathLst>
              <a:path w="5434373" h="978098">
                <a:moveTo>
                  <a:pt x="0" y="0"/>
                </a:moveTo>
                <a:lnTo>
                  <a:pt x="5328050" y="0"/>
                </a:lnTo>
                <a:arcTo wR="106323" hR="106326" stAng="16200000" swAng="5400000"/>
                <a:lnTo>
                  <a:pt x="5434373" y="871773"/>
                </a:lnTo>
                <a:arcTo wR="106323" hR="106326" stAng="0" swAng="5400000"/>
                <a:lnTo>
                  <a:pt x="0" y="978098"/>
                </a:lnTo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8BC1F04-195B-E9EF-411D-3D21F96DC6F3}"/>
              </a:ext>
            </a:extLst>
          </p:cNvPr>
          <p:cNvSpPr/>
          <p:nvPr/>
        </p:nvSpPr>
        <p:spPr>
          <a:xfrm>
            <a:off x="6256578" y="1608932"/>
            <a:ext cx="51446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Equal Access</a:t>
            </a:r>
            <a:endParaRPr lang="en-US" sz="23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F9752E-EB1D-A51C-7B34-1E2D3BC029EB}"/>
              </a:ext>
            </a:extLst>
          </p:cNvPr>
          <p:cNvSpPr/>
          <p:nvPr/>
        </p:nvSpPr>
        <p:spPr>
          <a:xfrm>
            <a:off x="6256578" y="1894087"/>
            <a:ext cx="514466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A rural academy with one phone gets the same technical feedback quality as a national training centre.</a:t>
            </a:r>
            <a:endParaRPr lang="en-US" sz="20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7A6FD67-8BBC-EA11-B85A-A2E632F93825}"/>
              </a:ext>
            </a:extLst>
          </p:cNvPr>
          <p:cNvSpPr/>
          <p:nvPr/>
        </p:nvSpPr>
        <p:spPr>
          <a:xfrm>
            <a:off x="642425" y="2963168"/>
            <a:ext cx="5434373" cy="978098"/>
          </a:xfrm>
          <a:custGeom>
            <a:avLst/>
            <a:gdLst/>
            <a:ahLst/>
            <a:cxnLst/>
            <a:rect l="l" t="t" r="r" b="b"/>
            <a:pathLst>
              <a:path w="5434373" h="978098">
                <a:moveTo>
                  <a:pt x="106323" y="0"/>
                </a:moveTo>
                <a:lnTo>
                  <a:pt x="5434373" y="0"/>
                </a:lnTo>
                <a:lnTo>
                  <a:pt x="5434373" y="978098"/>
                </a:lnTo>
                <a:lnTo>
                  <a:pt x="106323" y="978098"/>
                </a:lnTo>
                <a:arcTo wR="106323" hR="106326" stAng="5400000" swAng="5400000"/>
                <a:lnTo>
                  <a:pt x="0" y="106326"/>
                </a:lnTo>
                <a:arcTo wR="106323" hR="106326" stAng="10800000" swAng="5400000"/>
                <a:close/>
              </a:path>
            </a:pathLst>
          </a:cu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6B9628B-6B6E-EF2D-EA43-3D7DFC2C5FC1}"/>
              </a:ext>
            </a:extLst>
          </p:cNvPr>
          <p:cNvSpPr/>
          <p:nvPr/>
        </p:nvSpPr>
        <p:spPr>
          <a:xfrm>
            <a:off x="787280" y="2963168"/>
            <a:ext cx="51446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3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Coach Empowerment</a:t>
            </a:r>
            <a:endParaRPr lang="en-US" sz="23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6D1489F-A001-93CE-2ED2-8043F76DD720}"/>
              </a:ext>
            </a:extLst>
          </p:cNvPr>
          <p:cNvSpPr/>
          <p:nvPr/>
        </p:nvSpPr>
        <p:spPr>
          <a:xfrm>
            <a:off x="790456" y="3254673"/>
            <a:ext cx="514466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PE teachers gain a diagnostic tool requiring zero biomechanics training to operate.</a:t>
            </a:r>
            <a:endParaRPr lang="en-US" sz="20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A1BB1A1-8D28-52F1-CA8C-386252C421DF}"/>
              </a:ext>
            </a:extLst>
          </p:cNvPr>
          <p:cNvSpPr/>
          <p:nvPr/>
        </p:nvSpPr>
        <p:spPr>
          <a:xfrm>
            <a:off x="6114897" y="3921620"/>
            <a:ext cx="5434373" cy="1405039"/>
          </a:xfrm>
          <a:custGeom>
            <a:avLst/>
            <a:gdLst/>
            <a:ahLst/>
            <a:cxnLst/>
            <a:rect l="l" t="t" r="r" b="b"/>
            <a:pathLst>
              <a:path w="5434373" h="978098">
                <a:moveTo>
                  <a:pt x="0" y="0"/>
                </a:moveTo>
                <a:lnTo>
                  <a:pt x="5328050" y="0"/>
                </a:lnTo>
                <a:arcTo wR="106323" hR="106326" stAng="16200000" swAng="5400000"/>
                <a:lnTo>
                  <a:pt x="5434373" y="871773"/>
                </a:lnTo>
                <a:arcTo wR="106323" hR="106326" stAng="0" swAng="5400000"/>
                <a:lnTo>
                  <a:pt x="0" y="978098"/>
                </a:lnTo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75AFC9-B7D9-426D-BE55-AF7FA434830F}"/>
              </a:ext>
            </a:extLst>
          </p:cNvPr>
          <p:cNvSpPr/>
          <p:nvPr/>
        </p:nvSpPr>
        <p:spPr>
          <a:xfrm>
            <a:off x="6256578" y="3990380"/>
            <a:ext cx="51446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Policy Alignment</a:t>
            </a:r>
            <a:endParaRPr lang="en-US" sz="23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214A1A2-6EE6-8087-4546-AF357C82E09A}"/>
              </a:ext>
            </a:extLst>
          </p:cNvPr>
          <p:cNvSpPr/>
          <p:nvPr/>
        </p:nvSpPr>
        <p:spPr>
          <a:xfrm>
            <a:off x="6256578" y="4275535"/>
            <a:ext cx="514466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Supports Khelo India, Fit India and UN SDG 3 &amp; SDG 10 - measurable social and national development impact.</a:t>
            </a:r>
            <a:endParaRPr lang="en-US" sz="20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2113824-1BFA-1D62-0D40-0829AF2BC91C}"/>
              </a:ext>
            </a:extLst>
          </p:cNvPr>
          <p:cNvSpPr/>
          <p:nvPr/>
        </p:nvSpPr>
        <p:spPr>
          <a:xfrm>
            <a:off x="642425" y="5483730"/>
            <a:ext cx="11478330" cy="337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Impact cards above are focused measurable outcomes judges can map to program objectives and evaluation rubrics.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BD95158-DCB1-077D-51A5-9F937E41D492}"/>
              </a:ext>
            </a:extLst>
          </p:cNvPr>
          <p:cNvSpPr/>
          <p:nvPr/>
        </p:nvSpPr>
        <p:spPr>
          <a:xfrm>
            <a:off x="2410228" y="6519137"/>
            <a:ext cx="7372297" cy="2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Samsung Solve for Tomorrow 2026 | FITT, IIT Delhi | Samsung4all | Theme 3: Sport &amp; Tech</a:t>
            </a:r>
            <a:endParaRPr lang="en-US" sz="1450" b="1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D67823F-EEED-77F6-DC5E-633AE3890D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333" t="18750" r="1" b="13632"/>
          <a:stretch>
            <a:fillRect/>
          </a:stretch>
        </p:blipFill>
        <p:spPr>
          <a:xfrm>
            <a:off x="10887573" y="5854456"/>
            <a:ext cx="1246748" cy="9448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04941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832"/>
    </mc:Choice>
    <mc:Fallback>
      <p:transition spd="slow" advTm="1883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9C6C6-A855-FAD3-B37D-342D38C79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7CA05B-A422-4CDC-AE31-57B956683C75}"/>
              </a:ext>
            </a:extLst>
          </p:cNvPr>
          <p:cNvSpPr/>
          <p:nvPr/>
        </p:nvSpPr>
        <p:spPr>
          <a:xfrm>
            <a:off x="6455411" y="241374"/>
            <a:ext cx="4812179" cy="26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Revenue Model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5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How This Sustains Itself</a:t>
            </a:r>
            <a:endParaRPr lang="en-US" sz="2500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92DC89D-6E13-C72C-05D0-7D19FA69B4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9" t="2765" r="1023"/>
          <a:stretch>
            <a:fillRect/>
          </a:stretch>
        </p:blipFill>
        <p:spPr>
          <a:xfrm>
            <a:off x="64283" y="19664"/>
            <a:ext cx="6400959" cy="334885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E71AC31-37C1-DC79-D6E5-393219AB82E6}"/>
              </a:ext>
            </a:extLst>
          </p:cNvPr>
          <p:cNvSpPr/>
          <p:nvPr/>
        </p:nvSpPr>
        <p:spPr>
          <a:xfrm>
            <a:off x="821973" y="1492187"/>
            <a:ext cx="1460364" cy="19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Free Athlete Tier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B3DE887-D7D5-DFC0-0A5D-A75EB2863722}"/>
              </a:ext>
            </a:extLst>
          </p:cNvPr>
          <p:cNvSpPr/>
          <p:nvPr/>
        </p:nvSpPr>
        <p:spPr>
          <a:xfrm>
            <a:off x="2827220" y="1449913"/>
            <a:ext cx="1460363" cy="39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B2B Academy Subs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DB3859A-23C7-7578-AAA4-C0498CA86283}"/>
              </a:ext>
            </a:extLst>
          </p:cNvPr>
          <p:cNvSpPr/>
          <p:nvPr/>
        </p:nvSpPr>
        <p:spPr>
          <a:xfrm>
            <a:off x="4815441" y="1444617"/>
            <a:ext cx="1460363" cy="39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Federation Data License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F3FBA4D7-E4C2-3DF0-F553-9A9E73E74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82" y="3707147"/>
            <a:ext cx="86318" cy="69056"/>
          </a:xfrm>
          <a:prstGeom prst="rect">
            <a:avLst/>
          </a:prstGeom>
        </p:spPr>
      </p:pic>
      <p:sp>
        <p:nvSpPr>
          <p:cNvPr id="8" name="Text 6">
            <a:extLst>
              <a:ext uri="{FF2B5EF4-FFF2-40B4-BE49-F238E27FC236}">
                <a16:creationId xmlns:a16="http://schemas.microsoft.com/office/drawing/2014/main" id="{6BB0643C-9DB2-9B83-723B-775EAE63BADD}"/>
              </a:ext>
            </a:extLst>
          </p:cNvPr>
          <p:cNvSpPr/>
          <p:nvPr/>
        </p:nvSpPr>
        <p:spPr>
          <a:xfrm>
            <a:off x="2164080" y="5833766"/>
            <a:ext cx="7614893" cy="37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2000" dirty="0">
                <a:latin typeface="Samsung Sharp Sans"/>
                <a:cs typeface="Times New Roman" panose="02020603050405020304" pitchFamily="18" charset="0"/>
              </a:rPr>
              <a:t>No hidden cost to the athlete - monetization sits at institutional layer only.</a:t>
            </a: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893F04FD-19EB-32B4-60D4-9705D8B4F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504" y="1338126"/>
            <a:ext cx="4883252" cy="2767153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90505BE2-F9C0-EEC5-7292-C9620CA414F1}"/>
              </a:ext>
            </a:extLst>
          </p:cNvPr>
          <p:cNvSpPr/>
          <p:nvPr/>
        </p:nvSpPr>
        <p:spPr>
          <a:xfrm>
            <a:off x="6993338" y="4310231"/>
            <a:ext cx="4274252" cy="812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2000" b="1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Revenue mix built for stability: </a:t>
            </a:r>
          </a:p>
          <a:p>
            <a:pPr marL="0" indent="0" algn="l">
              <a:lnSpc>
                <a:spcPct val="91000"/>
              </a:lnSpc>
              <a:buNone/>
            </a:pPr>
            <a:r>
              <a:rPr lang="en-US" sz="20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recurring annual academy subscriptions </a:t>
            </a:r>
          </a:p>
          <a:p>
            <a:pPr marL="0" indent="0" algn="l">
              <a:lnSpc>
                <a:spcPct val="91000"/>
              </a:lnSpc>
              <a:buNone/>
            </a:pPr>
            <a:r>
              <a:rPr lang="en-US" sz="20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for steady inflow; federation licensing </a:t>
            </a:r>
          </a:p>
          <a:p>
            <a:pPr marL="0" indent="0" algn="l">
              <a:lnSpc>
                <a:spcPct val="91000"/>
              </a:lnSpc>
              <a:buNone/>
            </a:pPr>
            <a:r>
              <a:rPr lang="en-US" sz="2000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for higher-value contracts.</a:t>
            </a: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E0A3122-D089-AEA2-0A67-986A9E7A4F74}"/>
              </a:ext>
            </a:extLst>
          </p:cNvPr>
          <p:cNvSpPr/>
          <p:nvPr/>
        </p:nvSpPr>
        <p:spPr>
          <a:xfrm>
            <a:off x="2410228" y="6519137"/>
            <a:ext cx="7372297" cy="2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Samsung Solve for Tomorrow 2026 | FITT, IIT Delhi | Samsung4all | Theme 3: Sport &amp; Tech</a:t>
            </a:r>
            <a:endParaRPr lang="en-US" sz="1450" b="1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3C7EAE94-8C0A-F7C8-B008-FEFD48D1142D}"/>
              </a:ext>
            </a:extLst>
          </p:cNvPr>
          <p:cNvSpPr/>
          <p:nvPr/>
        </p:nvSpPr>
        <p:spPr>
          <a:xfrm>
            <a:off x="239559" y="3463314"/>
            <a:ext cx="1969204" cy="1525472"/>
          </a:xfrm>
          <a:prstGeom prst="roundRect">
            <a:avLst>
              <a:gd name="adj" fmla="val 16889"/>
            </a:avLst>
          </a:prstGeom>
          <a:solidFill>
            <a:srgbClr val="E5F9F2">
              <a:alpha val="95000"/>
            </a:srgbClr>
          </a:solidFill>
          <a:ln w="9525">
            <a:solidFill>
              <a:srgbClr val="B7D5CA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B5CFEF9-4BA8-46AF-936C-97EA6B2A6AC1}"/>
              </a:ext>
            </a:extLst>
          </p:cNvPr>
          <p:cNvSpPr/>
          <p:nvPr/>
        </p:nvSpPr>
        <p:spPr>
          <a:xfrm>
            <a:off x="354118" y="3503788"/>
            <a:ext cx="1979610" cy="31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Free Forever</a:t>
            </a:r>
            <a:endParaRPr lang="en-US" sz="22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C71507FC-9280-9CCE-EC06-E7FE90AA7227}"/>
              </a:ext>
            </a:extLst>
          </p:cNvPr>
          <p:cNvSpPr/>
          <p:nvPr/>
        </p:nvSpPr>
        <p:spPr>
          <a:xfrm>
            <a:off x="381056" y="3951393"/>
            <a:ext cx="1626556" cy="1037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Adoption engine: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athletes, schools,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rural academies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Individuals</a:t>
            </a:r>
            <a:endParaRPr lang="en-US" sz="16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6B2E6BC3-00CD-BFDA-E7EB-EDE73292B062}"/>
              </a:ext>
            </a:extLst>
          </p:cNvPr>
          <p:cNvSpPr/>
          <p:nvPr/>
        </p:nvSpPr>
        <p:spPr>
          <a:xfrm>
            <a:off x="2333728" y="3464612"/>
            <a:ext cx="2058653" cy="1525472"/>
          </a:xfrm>
          <a:prstGeom prst="roundRect">
            <a:avLst>
              <a:gd name="adj" fmla="val 16889"/>
            </a:avLst>
          </a:prstGeom>
          <a:solidFill>
            <a:srgbClr val="E5F9F2">
              <a:alpha val="95000"/>
            </a:srgbClr>
          </a:solidFill>
          <a:ln w="9525">
            <a:solidFill>
              <a:srgbClr val="B7D5CA"/>
            </a:solidFill>
            <a:prstDash val="solid"/>
          </a:ln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92BC3936-0D97-E7BA-0F08-8C469F180868}"/>
              </a:ext>
            </a:extLst>
          </p:cNvPr>
          <p:cNvSpPr/>
          <p:nvPr/>
        </p:nvSpPr>
        <p:spPr>
          <a:xfrm>
            <a:off x="2419789" y="3503788"/>
            <a:ext cx="1854553" cy="37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B4A4A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B2B </a:t>
            </a:r>
            <a:r>
              <a:rPr lang="en-US" b="1" dirty="0">
                <a:solidFill>
                  <a:srgbClr val="4B4A4A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Subscriptions</a:t>
            </a:r>
            <a:endParaRPr lang="en-US" sz="22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841FEA27-1DC5-B4A5-1E9E-B0CB063C6BE0}"/>
              </a:ext>
            </a:extLst>
          </p:cNvPr>
          <p:cNvSpPr/>
          <p:nvPr/>
        </p:nvSpPr>
        <p:spPr>
          <a:xfrm>
            <a:off x="2419789" y="3917827"/>
            <a:ext cx="1867794" cy="1276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Academies pay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multi-athlete tools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State and private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sports academies</a:t>
            </a:r>
            <a:endParaRPr lang="en-US" sz="16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465105BF-FDBB-B466-7E14-DE776F92E1AE}"/>
              </a:ext>
            </a:extLst>
          </p:cNvPr>
          <p:cNvSpPr/>
          <p:nvPr/>
        </p:nvSpPr>
        <p:spPr>
          <a:xfrm>
            <a:off x="4505891" y="3463313"/>
            <a:ext cx="2079465" cy="1525473"/>
          </a:xfrm>
          <a:prstGeom prst="roundRect">
            <a:avLst>
              <a:gd name="adj" fmla="val 16889"/>
            </a:avLst>
          </a:prstGeom>
          <a:solidFill>
            <a:srgbClr val="E5F9F2">
              <a:alpha val="95000"/>
            </a:srgbClr>
          </a:solidFill>
          <a:ln w="9525">
            <a:solidFill>
              <a:srgbClr val="B7D5CA"/>
            </a:solidFill>
            <a:prstDash val="solid"/>
          </a:ln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5276BD80-43A5-16CA-04F2-E32B3B494BBD}"/>
              </a:ext>
            </a:extLst>
          </p:cNvPr>
          <p:cNvSpPr/>
          <p:nvPr/>
        </p:nvSpPr>
        <p:spPr>
          <a:xfrm>
            <a:off x="4606661" y="3514030"/>
            <a:ext cx="1562208" cy="31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Data Licensing</a:t>
            </a:r>
            <a:endParaRPr lang="en-US" sz="22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EC9A1295-423F-A7FB-C053-4954080F4579}"/>
              </a:ext>
            </a:extLst>
          </p:cNvPr>
          <p:cNvSpPr/>
          <p:nvPr/>
        </p:nvSpPr>
        <p:spPr>
          <a:xfrm>
            <a:off x="4546142" y="3938903"/>
            <a:ext cx="1779379" cy="86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Anonymized analytics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Aggregated performance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licensed to sports bodies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Government tie-ups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000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C55814D-A624-3229-FC16-DCAEE21C30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333" t="18750" r="1" b="13632"/>
          <a:stretch>
            <a:fillRect/>
          </a:stretch>
        </p:blipFill>
        <p:spPr>
          <a:xfrm>
            <a:off x="10887573" y="5854456"/>
            <a:ext cx="1246748" cy="9448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12C473FF-B648-F352-6560-AF321EBB0E70}"/>
              </a:ext>
            </a:extLst>
          </p:cNvPr>
          <p:cNvSpPr/>
          <p:nvPr/>
        </p:nvSpPr>
        <p:spPr>
          <a:xfrm>
            <a:off x="2294400" y="3108072"/>
            <a:ext cx="1854553" cy="37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Recurring Revenue</a:t>
            </a:r>
            <a:endParaRPr lang="en-US" sz="22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CD98E022-3714-80D5-3928-593620C78B3D}"/>
              </a:ext>
            </a:extLst>
          </p:cNvPr>
          <p:cNvSpPr/>
          <p:nvPr/>
        </p:nvSpPr>
        <p:spPr>
          <a:xfrm>
            <a:off x="4717643" y="3128309"/>
            <a:ext cx="1854553" cy="37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Alternative </a:t>
            </a:r>
            <a:endParaRPr lang="en-US" sz="22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40A4B695-8D5E-E577-4257-4A9AA426B15B}"/>
              </a:ext>
            </a:extLst>
          </p:cNvPr>
          <p:cNvSpPr/>
          <p:nvPr/>
        </p:nvSpPr>
        <p:spPr>
          <a:xfrm>
            <a:off x="427784" y="3114000"/>
            <a:ext cx="1854553" cy="37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Steady Inflow</a:t>
            </a:r>
            <a:endParaRPr lang="en-US" sz="2200" dirty="0">
              <a:latin typeface="Samsung Sharp San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429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790"/>
    </mc:Choice>
    <mc:Fallback>
      <p:transition spd="slow" advTm="3479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3B570-A507-C358-C97C-E4797E5F2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5F23FD-1914-E369-2C6D-7854FC9AEBD2}"/>
              </a:ext>
            </a:extLst>
          </p:cNvPr>
          <p:cNvSpPr/>
          <p:nvPr/>
        </p:nvSpPr>
        <p:spPr>
          <a:xfrm>
            <a:off x="4977034" y="1699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dirty="0"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Thank You</a:t>
            </a:r>
            <a:endParaRPr lang="en-US" sz="4000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9997E9-6D6C-F1CA-346B-918041EBB30B}"/>
              </a:ext>
            </a:extLst>
          </p:cNvPr>
          <p:cNvSpPr/>
          <p:nvPr/>
        </p:nvSpPr>
        <p:spPr>
          <a:xfrm>
            <a:off x="4977034" y="104411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DrishtiSport AI - every rural playground deserves a coach.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This makes sure it gets one.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C83010-FDED-B1F5-17EF-4C5D67D86B00}"/>
              </a:ext>
            </a:extLst>
          </p:cNvPr>
          <p:cNvSpPr/>
          <p:nvPr/>
        </p:nvSpPr>
        <p:spPr>
          <a:xfrm>
            <a:off x="4977034" y="1861575"/>
            <a:ext cx="3053877" cy="2359250"/>
          </a:xfrm>
          <a:prstGeom prst="roundRect">
            <a:avLst>
              <a:gd name="adj" fmla="val 6415"/>
            </a:avLst>
          </a:prstGeom>
          <a:solidFill>
            <a:srgbClr val="E5F9F2">
              <a:alpha val="95000"/>
            </a:srgbClr>
          </a:solidFill>
          <a:ln w="25399">
            <a:solidFill>
              <a:srgbClr val="B7D5C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FBAC9D6-7EC4-28CD-4F50-45874700B6EE}"/>
              </a:ext>
            </a:extLst>
          </p:cNvPr>
          <p:cNvSpPr/>
          <p:nvPr/>
        </p:nvSpPr>
        <p:spPr>
          <a:xfrm>
            <a:off x="5191440" y="1962419"/>
            <a:ext cx="2625064" cy="25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Contact</a:t>
            </a:r>
            <a:endParaRPr lang="en-US" sz="25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672D84-D879-DC4D-237A-5FB109C831F8}"/>
              </a:ext>
            </a:extLst>
          </p:cNvPr>
          <p:cNvSpPr/>
          <p:nvPr/>
        </p:nvSpPr>
        <p:spPr>
          <a:xfrm>
            <a:off x="5191440" y="2463692"/>
            <a:ext cx="2625064" cy="1513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Samsung4all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Guru Sai Sumith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  <a:hlinkClick r:id="rId2" action="ppaction://hlinkfile"/>
              </a:rPr>
              <a:t>9110341228</a:t>
            </a:r>
            <a:endParaRPr lang="en-US" sz="1450" dirty="0">
              <a:solidFill>
                <a:schemeClr val="bg1"/>
              </a:solidFill>
              <a:latin typeface="Samsung Sharp Sans"/>
              <a:ea typeface="Geist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3000"/>
              </a:lnSpc>
            </a:pPr>
            <a:r>
              <a:rPr lang="en-US" sz="145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  <a:hlinkClick r:id="rId3"/>
              </a:rPr>
              <a:t>gurusumithss2005@gmail.com  </a:t>
            </a:r>
            <a:endParaRPr lang="en-US" sz="1450" dirty="0">
              <a:solidFill>
                <a:schemeClr val="bg1"/>
              </a:solidFill>
              <a:latin typeface="Samsung Sharp Sans"/>
              <a:ea typeface="Geist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3000"/>
              </a:lnSpc>
            </a:pPr>
            <a:r>
              <a:rPr lang="en-US" sz="1450" dirty="0" err="1">
                <a:solidFill>
                  <a:schemeClr val="bg1"/>
                </a:solidFill>
                <a:latin typeface="Samsung Sharp Sans"/>
                <a:cs typeface="Times New Roman" panose="02020603050405020304" pitchFamily="18" charset="0"/>
                <a:hlinkClick r:id="rId4"/>
              </a:rPr>
              <a:t>LinkedIN</a:t>
            </a:r>
            <a:endParaRPr lang="en-US" sz="145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AFFFE2-C34F-E142-A578-8FA8728EA6D7}"/>
              </a:ext>
            </a:extLst>
          </p:cNvPr>
          <p:cNvSpPr/>
          <p:nvPr/>
        </p:nvSpPr>
        <p:spPr>
          <a:xfrm>
            <a:off x="8219918" y="1861575"/>
            <a:ext cx="3053976" cy="2359250"/>
          </a:xfrm>
          <a:prstGeom prst="roundRect">
            <a:avLst>
              <a:gd name="adj" fmla="val 6415"/>
            </a:avLst>
          </a:prstGeom>
          <a:solidFill>
            <a:srgbClr val="E5F9F2">
              <a:alpha val="95000"/>
            </a:srgbClr>
          </a:solidFill>
          <a:ln w="25399">
            <a:solidFill>
              <a:srgbClr val="B7D5C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A33A11-6EA8-9181-F67E-D87DBDDBBA05}"/>
              </a:ext>
            </a:extLst>
          </p:cNvPr>
          <p:cNvSpPr/>
          <p:nvPr/>
        </p:nvSpPr>
        <p:spPr>
          <a:xfrm>
            <a:off x="8434323" y="1962419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chemeClr val="bg1"/>
                </a:solidFill>
                <a:latin typeface="Samsung Sharp Sans"/>
                <a:ea typeface="Noto Serif Bold" pitchFamily="34" charset="-122"/>
                <a:cs typeface="Times New Roman" panose="02020603050405020304" pitchFamily="18" charset="0"/>
              </a:rPr>
              <a:t>Direct Ask</a:t>
            </a:r>
            <a:endParaRPr lang="en-US" sz="250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262CBE1-0831-BA6E-2A08-44274B9BC20B}"/>
              </a:ext>
            </a:extLst>
          </p:cNvPr>
          <p:cNvSpPr/>
          <p:nvPr/>
        </p:nvSpPr>
        <p:spPr>
          <a:xfrm>
            <a:off x="8434323" y="2358538"/>
            <a:ext cx="262516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Requesting FITT-IIT Delhi lab access to validate the elbow-angle model against certified biomechanics equipment, and mentorship on scaling to additional sports.</a:t>
            </a:r>
            <a:endParaRPr lang="en-US" sz="1450" dirty="0">
              <a:solidFill>
                <a:schemeClr val="bg1"/>
              </a:solidFill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A798E03-147B-52F6-7D74-8E302F1B4809}"/>
              </a:ext>
            </a:extLst>
          </p:cNvPr>
          <p:cNvSpPr/>
          <p:nvPr/>
        </p:nvSpPr>
        <p:spPr>
          <a:xfrm>
            <a:off x="983225" y="5546156"/>
            <a:ext cx="8066277" cy="789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QR code links to a 2-minute demo video (placeholder). </a:t>
            </a:r>
          </a:p>
          <a:p>
            <a:pPr marL="0" indent="0" algn="ctr">
              <a:lnSpc>
                <a:spcPct val="133000"/>
              </a:lnSpc>
              <a:buNone/>
            </a:pPr>
            <a:r>
              <a:rPr lang="en-US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Judges: live demo follows the narrated 4-minute video - prototype ready for validation.</a:t>
            </a:r>
            <a:endParaRPr lang="en-US" dirty="0">
              <a:latin typeface="Samsung Sharp Sans"/>
              <a:cs typeface="Times New Roman" panose="02020603050405020304" pitchFamily="18" charset="0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3358B44F-A24A-2D6C-B3A6-D557AD7D582A}"/>
              </a:ext>
            </a:extLst>
          </p:cNvPr>
          <p:cNvSpPr/>
          <p:nvPr/>
        </p:nvSpPr>
        <p:spPr>
          <a:xfrm>
            <a:off x="2410228" y="6519137"/>
            <a:ext cx="7372297" cy="2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latin typeface="Samsung Sharp Sans"/>
                <a:ea typeface="Geist" pitchFamily="34" charset="-122"/>
                <a:cs typeface="Times New Roman" panose="02020603050405020304" pitchFamily="18" charset="0"/>
              </a:rPr>
              <a:t>Samsung Solve for Tomorrow 2026 | FITT, IIT Delhi | Samsung4all | Theme 3: Sport &amp; Tech</a:t>
            </a:r>
            <a:endParaRPr lang="en-US" sz="1450" b="1" dirty="0">
              <a:latin typeface="Samsung Sharp Sans"/>
              <a:cs typeface="Times New Roman" panose="02020603050405020304" pitchFamily="18" charset="0"/>
            </a:endParaRPr>
          </a:p>
        </p:txBody>
      </p:sp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F37B7789-4AB0-162F-B629-34864B111D0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5310" b="27813"/>
          <a:stretch/>
        </p:blipFill>
        <p:spPr>
          <a:xfrm>
            <a:off x="8927690" y="3811515"/>
            <a:ext cx="3264309" cy="30464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BBF4E4-4340-622C-C210-D1EE58F0E9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01" y="465319"/>
            <a:ext cx="4286250" cy="4286250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52B8F17A-53E7-5D4C-2037-F79FB4451FD6}"/>
              </a:ext>
            </a:extLst>
          </p:cNvPr>
          <p:cNvSpPr/>
          <p:nvPr/>
        </p:nvSpPr>
        <p:spPr>
          <a:xfrm>
            <a:off x="1287394" y="4751569"/>
            <a:ext cx="2625064" cy="25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400" dirty="0">
                <a:latin typeface="Samsung Sharp Sans"/>
                <a:cs typeface="Times New Roman" panose="02020603050405020304" pitchFamily="18" charset="0"/>
                <a:hlinkClick r:id="rId7"/>
              </a:rPr>
              <a:t>Demo - Link</a:t>
            </a:r>
            <a:endParaRPr lang="en-US" sz="4400" dirty="0">
              <a:latin typeface="Samsung Sharp San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851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857"/>
    </mc:Choice>
    <mc:Fallback>
      <p:transition spd="slow" advTm="3485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534</TotalTime>
  <Words>1071</Words>
  <Application>Microsoft Office PowerPoint</Application>
  <PresentationFormat>Widescreen</PresentationFormat>
  <Paragraphs>178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Samsung Sharp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 Template</dc:title>
  <dc:creator>Pankaj Baruah</dc:creator>
  <cp:lastModifiedBy>SAI SUMITH GURU</cp:lastModifiedBy>
  <cp:revision>17</cp:revision>
  <dcterms:created xsi:type="dcterms:W3CDTF">2024-05-30T06:57:45Z</dcterms:created>
  <dcterms:modified xsi:type="dcterms:W3CDTF">2026-08-05T18:46:39Z</dcterms:modified>
</cp:coreProperties>
</file>